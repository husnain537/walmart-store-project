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68" r:id="rId4"/>
    <p:sldId id="261" r:id="rId5"/>
    <p:sldId id="269" r:id="rId6"/>
    <p:sldId id="262" r:id="rId7"/>
    <p:sldId id="263" r:id="rId8"/>
    <p:sldId id="264" r:id="rId9"/>
    <p:sldId id="265" r:id="rId10"/>
    <p:sldId id="259" r:id="rId11"/>
    <p:sldId id="257" r:id="rId12"/>
    <p:sldId id="266" r:id="rId1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60"/>
  </p:normalViewPr>
  <p:slideViewPr>
    <p:cSldViewPr snapToGrid="0">
      <p:cViewPr varScale="1">
        <p:scale>
          <a:sx n="78" d="100"/>
          <a:sy n="78" d="100"/>
        </p:scale>
        <p:origin x="72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D:\Data%20Analytics%20Program%20Lumen%20Digital%20Munich\Lesson%2311\Walmart-sal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Data%20Analytics%20Program%20Lumen%20Digital%20Munich\Lesson%2311\Walmart-sal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ata%20Analytics%20Program%20Lumen%20Digital%20Munich\Lesson%2311\Walmart-sale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Data%20Analytics%20Program%20Lumen%20Digital%20Munich\Lesson%2311\Walmart-sale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Data%20Analytics%20Program%20Lumen%20Digital%20Munich\Lesson%2311\Walmart-sale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[Walmart-sales.xlsx]Sales!PivotTable1</c:name>
    <c:fmtId val="20"/>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b="0">
                <a:solidFill>
                  <a:schemeClr val="bg1"/>
                </a:solidFill>
                <a:latin typeface="Segoe UI Semibold" panose="020B0702040204020203" pitchFamily="34" charset="0"/>
                <a:cs typeface="Segoe UI Semibold" panose="020B0702040204020203" pitchFamily="34" charset="0"/>
              </a:rPr>
              <a:t>Sales on Holiday Vs Non-Holiday</a:t>
            </a:r>
          </a:p>
        </c:rich>
      </c:tx>
      <c:layout>
        <c:manualLayout>
          <c:xMode val="edge"/>
          <c:yMode val="edge"/>
          <c:x val="0.25418627897166063"/>
          <c:y val="4.527559055118110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PK"/>
        </a:p>
      </c:txPr>
    </c:title>
    <c:autoTitleDeleted val="0"/>
    <c:pivotFmts>
      <c:pivotFmt>
        <c:idx val="0"/>
        <c:spPr>
          <a:solidFill>
            <a:schemeClr val="accent1"/>
          </a:solidFill>
          <a:ln>
            <a:noFill/>
          </a:ln>
          <a:effectLst/>
        </c:spPr>
        <c:marker>
          <c:symbol val="none"/>
        </c:marker>
        <c:dLbl>
          <c:idx val="0"/>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92D050"/>
          </a:solidFill>
          <a:ln>
            <a:noFill/>
          </a:ln>
          <a:effectLst/>
        </c:spPr>
      </c:pivotFmt>
      <c:pivotFmt>
        <c:idx val="2"/>
        <c:spPr>
          <a:solidFill>
            <a:srgbClr val="FFC000"/>
          </a:solidFill>
          <a:ln>
            <a:noFill/>
          </a:ln>
          <a:effectLst/>
        </c:spPr>
      </c:pivotFmt>
      <c:pivotFmt>
        <c:idx val="3"/>
        <c:spPr>
          <a:solidFill>
            <a:schemeClr val="accent1"/>
          </a:solidFill>
          <a:ln>
            <a:noFill/>
          </a:ln>
          <a:effectLst/>
        </c:spPr>
        <c:marker>
          <c:symbol val="none"/>
        </c:marker>
        <c:dLbl>
          <c:idx val="0"/>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C000"/>
          </a:solidFill>
          <a:ln>
            <a:noFill/>
          </a:ln>
          <a:effectLst/>
        </c:spPr>
      </c:pivotFmt>
      <c:pivotFmt>
        <c:idx val="5"/>
        <c:spPr>
          <a:solidFill>
            <a:srgbClr val="92D050"/>
          </a:solidFill>
          <a:ln>
            <a:noFill/>
          </a:ln>
          <a:effectLst/>
        </c:spPr>
      </c:pivotFmt>
      <c:pivotFmt>
        <c:idx val="6"/>
        <c:spPr>
          <a:solidFill>
            <a:schemeClr val="accent1"/>
          </a:solidFill>
          <a:ln>
            <a:noFill/>
          </a:ln>
          <a:effectLst/>
        </c:spPr>
        <c:marker>
          <c:symbol val="none"/>
        </c:marker>
        <c:dLbl>
          <c:idx val="0"/>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C000"/>
          </a:solidFill>
          <a:ln>
            <a:noFill/>
          </a:ln>
          <a:effectLst/>
        </c:spPr>
      </c:pivotFmt>
      <c:pivotFmt>
        <c:idx val="8"/>
        <c:spPr>
          <a:solidFill>
            <a:srgbClr val="92D050"/>
          </a:solidFill>
          <a:ln>
            <a:noFill/>
          </a:ln>
          <a:effectLst/>
        </c:spPr>
      </c:pivotFmt>
    </c:pivotFmts>
    <c:plotArea>
      <c:layout/>
      <c:barChart>
        <c:barDir val="bar"/>
        <c:grouping val="clustered"/>
        <c:varyColors val="0"/>
        <c:ser>
          <c:idx val="0"/>
          <c:order val="0"/>
          <c:tx>
            <c:strRef>
              <c:f>Sales!$P$63721</c:f>
              <c:strCache>
                <c:ptCount val="1"/>
                <c:pt idx="0">
                  <c:v>Total</c:v>
                </c:pt>
              </c:strCache>
            </c:strRef>
          </c:tx>
          <c:spPr>
            <a:solidFill>
              <a:schemeClr val="accent1"/>
            </a:solidFill>
            <a:ln>
              <a:noFill/>
            </a:ln>
            <a:effectLst/>
          </c:spPr>
          <c:invertIfNegative val="0"/>
          <c:dPt>
            <c:idx val="0"/>
            <c:invertIfNegative val="0"/>
            <c:bubble3D val="0"/>
            <c:spPr>
              <a:solidFill>
                <a:srgbClr val="92D050"/>
              </a:solidFill>
              <a:ln>
                <a:noFill/>
              </a:ln>
              <a:effectLst/>
            </c:spPr>
            <c:extLst>
              <c:ext xmlns:c16="http://schemas.microsoft.com/office/drawing/2014/chart" uri="{C3380CC4-5D6E-409C-BE32-E72D297353CC}">
                <c16:uniqueId val="{00000001-EF10-4E90-ADF4-0A8F3E64E29D}"/>
              </c:ext>
            </c:extLst>
          </c:dPt>
          <c:dPt>
            <c:idx val="1"/>
            <c:invertIfNegative val="0"/>
            <c:bubble3D val="0"/>
            <c:spPr>
              <a:solidFill>
                <a:schemeClr val="accent2">
                  <a:lumMod val="75000"/>
                </a:schemeClr>
              </a:solidFill>
              <a:ln>
                <a:noFill/>
              </a:ln>
              <a:effectLst/>
            </c:spPr>
            <c:extLst>
              <c:ext xmlns:c16="http://schemas.microsoft.com/office/drawing/2014/chart" uri="{C3380CC4-5D6E-409C-BE32-E72D297353CC}">
                <c16:uniqueId val="{00000003-EF10-4E90-ADF4-0A8F3E64E29D}"/>
              </c:ext>
            </c:extLst>
          </c:dPt>
          <c:dLbls>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Sales!$O$63722:$O$63724</c:f>
              <c:strCache>
                <c:ptCount val="2"/>
                <c:pt idx="0">
                  <c:v>0</c:v>
                </c:pt>
                <c:pt idx="1">
                  <c:v>1</c:v>
                </c:pt>
              </c:strCache>
            </c:strRef>
          </c:cat>
          <c:val>
            <c:numRef>
              <c:f>Sales!$P$63722:$P$63724</c:f>
              <c:numCache>
                <c:formatCode>0</c:formatCode>
                <c:ptCount val="2"/>
                <c:pt idx="0">
                  <c:v>1309648270.880003</c:v>
                </c:pt>
                <c:pt idx="1">
                  <c:v>107048404.40000014</c:v>
                </c:pt>
              </c:numCache>
            </c:numRef>
          </c:val>
          <c:extLst>
            <c:ext xmlns:c16="http://schemas.microsoft.com/office/drawing/2014/chart" uri="{C3380CC4-5D6E-409C-BE32-E72D297353CC}">
              <c16:uniqueId val="{00000004-EF10-4E90-ADF4-0A8F3E64E29D}"/>
            </c:ext>
          </c:extLst>
        </c:ser>
        <c:dLbls>
          <c:dLblPos val="outEnd"/>
          <c:showLegendKey val="0"/>
          <c:showVal val="1"/>
          <c:showCatName val="0"/>
          <c:showSerName val="0"/>
          <c:showPercent val="0"/>
          <c:showBubbleSize val="0"/>
        </c:dLbls>
        <c:gapWidth val="182"/>
        <c:axId val="625104736"/>
        <c:axId val="625105696"/>
      </c:barChart>
      <c:catAx>
        <c:axId val="625104736"/>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bg1"/>
                    </a:solidFill>
                    <a:latin typeface="+mn-lt"/>
                    <a:ea typeface="+mn-ea"/>
                    <a:cs typeface="+mn-cs"/>
                  </a:defRPr>
                </a:pPr>
                <a:r>
                  <a:rPr lang="en-US" b="1">
                    <a:solidFill>
                      <a:schemeClr val="bg1"/>
                    </a:solidFill>
                  </a:rPr>
                  <a:t>Holidays</a:t>
                </a:r>
                <a:r>
                  <a:rPr lang="en-US" b="1" baseline="0">
                    <a:solidFill>
                      <a:schemeClr val="bg1"/>
                    </a:solidFill>
                  </a:rPr>
                  <a:t> Status</a:t>
                </a:r>
                <a:endParaRPr lang="en-US" b="1">
                  <a:solidFill>
                    <a:schemeClr val="bg1"/>
                  </a:solidFill>
                </a:endParaRP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bg1"/>
            </a:solidFill>
            <a:round/>
          </a:ln>
          <a:effectLst/>
        </c:spPr>
        <c:txPr>
          <a:bodyPr rot="-60000000" spcFirstLastPara="1" vertOverflow="ellipsis" vert="horz" wrap="square" anchor="ctr" anchorCtr="1"/>
          <a:lstStyle/>
          <a:p>
            <a:pPr>
              <a:defRPr sz="1050" b="0" i="0" u="none" strike="noStrike" kern="1200" baseline="0">
                <a:solidFill>
                  <a:schemeClr val="bg1"/>
                </a:solidFill>
                <a:latin typeface="+mn-lt"/>
                <a:ea typeface="+mn-ea"/>
                <a:cs typeface="+mn-cs"/>
              </a:defRPr>
            </a:pPr>
            <a:endParaRPr lang="en-PK"/>
          </a:p>
        </c:txPr>
        <c:crossAx val="625105696"/>
        <c:crosses val="autoZero"/>
        <c:auto val="1"/>
        <c:lblAlgn val="ctr"/>
        <c:lblOffset val="100"/>
        <c:noMultiLvlLbl val="0"/>
      </c:catAx>
      <c:valAx>
        <c:axId val="625105696"/>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r>
                  <a:rPr lang="en-US" b="1">
                    <a:solidFill>
                      <a:schemeClr val="bg1"/>
                    </a:solidFill>
                  </a:rPr>
                  <a:t>Avg_Sales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PK"/>
            </a:p>
          </c:txPr>
        </c:title>
        <c:numFmt formatCode="0.00,,&quot;M&quot;" sourceLinked="0"/>
        <c:majorTickMark val="none"/>
        <c:minorTickMark val="none"/>
        <c:tickLblPos val="nextTo"/>
        <c:spPr>
          <a:solidFill>
            <a:schemeClr val="tx1">
              <a:lumMod val="95000"/>
              <a:lumOff val="5000"/>
            </a:schemeClr>
          </a:solidFill>
          <a:ln w="19050">
            <a:solidFill>
              <a:schemeClr val="bg1"/>
            </a:solidFill>
          </a:ln>
          <a:effectLst/>
        </c:spPr>
        <c:txPr>
          <a:bodyPr rot="-6000000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PK"/>
          </a:p>
        </c:txPr>
        <c:crossAx val="6251047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95000"/>
        <a:lumOff val="5000"/>
      </a:schemeClr>
    </a:solidFill>
    <a:ln w="19050" cap="flat" cmpd="sng" algn="ctr">
      <a:solidFill>
        <a:schemeClr val="tx1">
          <a:lumMod val="95000"/>
          <a:lumOff val="5000"/>
        </a:schemeClr>
      </a:solidFill>
      <a:round/>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[Walmart-sales.xlsx]Sales!PivotTable2</c:name>
    <c:fmtId val="14"/>
  </c:pivotSource>
  <c:chart>
    <c:title>
      <c:tx>
        <c:rich>
          <a:bodyPr rot="0" spcFirstLastPara="1" vertOverflow="ellipsis" vert="horz" wrap="square" anchor="ctr" anchorCtr="1"/>
          <a:lstStyle/>
          <a:p>
            <a:pPr algn="ctr" rtl="0">
              <a:defRPr lang="en-US" sz="1600" b="1" i="0" u="none" strike="noStrike" kern="1200" spc="0" baseline="0">
                <a:solidFill>
                  <a:schemeClr val="tx1"/>
                </a:solidFill>
                <a:latin typeface="Segoe UI Semibold" panose="020B0702040204020203" pitchFamily="34" charset="0"/>
                <a:ea typeface="+mn-ea"/>
                <a:cs typeface="Segoe UI Semibold" panose="020B0702040204020203" pitchFamily="34" charset="0"/>
              </a:defRPr>
            </a:pPr>
            <a:r>
              <a:rPr lang="en-US" sz="1600" b="0" i="0" u="none" strike="noStrike" kern="1200" spc="0" baseline="0" dirty="0">
                <a:solidFill>
                  <a:schemeClr val="tx1"/>
                </a:solidFill>
                <a:latin typeface="Segoe UI Semibold" panose="020B0702040204020203" pitchFamily="34" charset="0"/>
                <a:ea typeface="+mn-ea"/>
                <a:cs typeface="Segoe UI Semibold" panose="020B0702040204020203" pitchFamily="34" charset="0"/>
              </a:rPr>
              <a:t>Top 5 Stores w.r.t Sales</a:t>
            </a:r>
          </a:p>
        </c:rich>
      </c:tx>
      <c:overlay val="0"/>
      <c:spPr>
        <a:noFill/>
        <a:ln>
          <a:noFill/>
        </a:ln>
        <a:effectLst/>
      </c:spPr>
      <c:txPr>
        <a:bodyPr rot="0" spcFirstLastPara="1" vertOverflow="ellipsis" vert="horz" wrap="square" anchor="ctr" anchorCtr="1"/>
        <a:lstStyle/>
        <a:p>
          <a:pPr algn="ctr" rtl="0">
            <a:defRPr lang="en-US" sz="1600" b="1" i="0" u="none" strike="noStrike" kern="1200" spc="0" baseline="0">
              <a:solidFill>
                <a:schemeClr val="tx1"/>
              </a:solidFill>
              <a:latin typeface="Segoe UI Semibold" panose="020B0702040204020203" pitchFamily="34" charset="0"/>
              <a:ea typeface="+mn-ea"/>
              <a:cs typeface="Segoe UI Semibold" panose="020B0702040204020203" pitchFamily="34" charset="0"/>
            </a:defRPr>
          </a:pPr>
          <a:endParaRPr lang="en-PK"/>
        </a:p>
      </c:txPr>
    </c:title>
    <c:autoTitleDeleted val="0"/>
    <c:pivotFmts>
      <c:pivotFmt>
        <c:idx val="0"/>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92D050"/>
          </a:solidFill>
          <a:ln>
            <a:noFill/>
          </a:ln>
          <a:effectLst/>
        </c:spPr>
      </c:pivotFmt>
      <c:pivotFmt>
        <c:idx val="2"/>
        <c:spPr>
          <a:solidFill>
            <a:srgbClr val="92D050"/>
          </a:solidFill>
          <a:ln>
            <a:noFill/>
          </a:ln>
          <a:effectLst/>
        </c:spPr>
      </c:pivotFmt>
      <c:pivotFmt>
        <c:idx val="3"/>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92D050"/>
          </a:solidFill>
          <a:ln>
            <a:noFill/>
          </a:ln>
          <a:effectLst/>
        </c:spPr>
      </c:pivotFmt>
      <c:pivotFmt>
        <c:idx val="5"/>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92D050"/>
          </a:solidFill>
          <a:ln>
            <a:noFill/>
          </a:ln>
          <a:effectLst/>
        </c:spPr>
      </c:pivotFmt>
    </c:pivotFmts>
    <c:plotArea>
      <c:layout/>
      <c:barChart>
        <c:barDir val="col"/>
        <c:grouping val="clustered"/>
        <c:varyColors val="0"/>
        <c:ser>
          <c:idx val="0"/>
          <c:order val="0"/>
          <c:tx>
            <c:strRef>
              <c:f>Sales!$O$63729</c:f>
              <c:strCache>
                <c:ptCount val="1"/>
                <c:pt idx="0">
                  <c:v>Total</c:v>
                </c:pt>
              </c:strCache>
            </c:strRef>
          </c:tx>
          <c:spPr>
            <a:solidFill>
              <a:srgbClr val="FFC000"/>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1-4C02-4D16-90FB-EB857EDE258D}"/>
              </c:ext>
            </c:extLst>
          </c:dPt>
          <c:dPt>
            <c:idx val="1"/>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03-4C02-4D16-90FB-EB857EDE258D}"/>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4C02-4D16-90FB-EB857EDE258D}"/>
              </c:ext>
            </c:extLst>
          </c:dPt>
          <c:dPt>
            <c:idx val="3"/>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7-4C02-4D16-90FB-EB857EDE258D}"/>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4C02-4D16-90FB-EB857EDE258D}"/>
              </c:ext>
            </c:extLst>
          </c:dPt>
          <c:cat>
            <c:strRef>
              <c:f>Sales!$N$63730:$N$63735</c:f>
              <c:strCache>
                <c:ptCount val="5"/>
                <c:pt idx="0">
                  <c:v>10</c:v>
                </c:pt>
                <c:pt idx="1">
                  <c:v>4</c:v>
                </c:pt>
                <c:pt idx="2">
                  <c:v>20</c:v>
                </c:pt>
                <c:pt idx="3">
                  <c:v>13</c:v>
                </c:pt>
                <c:pt idx="4">
                  <c:v>14</c:v>
                </c:pt>
              </c:strCache>
            </c:strRef>
          </c:cat>
          <c:val>
            <c:numRef>
              <c:f>Sales!$O$63730:$O$63735</c:f>
              <c:numCache>
                <c:formatCode>0</c:formatCode>
                <c:ptCount val="5"/>
                <c:pt idx="0">
                  <c:v>55756.579762237678</c:v>
                </c:pt>
                <c:pt idx="1">
                  <c:v>44553.004531468505</c:v>
                </c:pt>
                <c:pt idx="2">
                  <c:v>44151.245524475446</c:v>
                </c:pt>
                <c:pt idx="3">
                  <c:v>42351.800734265831</c:v>
                </c:pt>
                <c:pt idx="4">
                  <c:v>37002.917419580364</c:v>
                </c:pt>
              </c:numCache>
            </c:numRef>
          </c:val>
          <c:extLst>
            <c:ext xmlns:c16="http://schemas.microsoft.com/office/drawing/2014/chart" uri="{C3380CC4-5D6E-409C-BE32-E72D297353CC}">
              <c16:uniqueId val="{0000000A-4C02-4D16-90FB-EB857EDE258D}"/>
            </c:ext>
          </c:extLst>
        </c:ser>
        <c:dLbls>
          <c:showLegendKey val="0"/>
          <c:showVal val="0"/>
          <c:showCatName val="0"/>
          <c:showSerName val="0"/>
          <c:showPercent val="0"/>
          <c:showBubbleSize val="0"/>
        </c:dLbls>
        <c:gapWidth val="219"/>
        <c:overlap val="-27"/>
        <c:axId val="589491104"/>
        <c:axId val="589491584"/>
      </c:barChart>
      <c:catAx>
        <c:axId val="589491104"/>
        <c:scaling>
          <c:orientation val="minMax"/>
        </c:scaling>
        <c:delete val="0"/>
        <c:axPos val="b"/>
        <c:title>
          <c:tx>
            <c:rich>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r>
                  <a:rPr lang="en-US" sz="1050" b="1">
                    <a:solidFill>
                      <a:schemeClr val="tx1"/>
                    </a:solidFill>
                  </a:rPr>
                  <a:t>Stores</a:t>
                </a:r>
              </a:p>
            </c:rich>
          </c:tx>
          <c:layout>
            <c:manualLayout>
              <c:xMode val="edge"/>
              <c:yMode val="edge"/>
              <c:x val="0.46370962962962964"/>
              <c:y val="0.90800444444444428"/>
            </c:manualLayout>
          </c:layout>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PK"/>
            </a:p>
          </c:txPr>
        </c:title>
        <c:numFmt formatCode="General" sourceLinked="1"/>
        <c:majorTickMark val="none"/>
        <c:minorTickMark val="none"/>
        <c:tickLblPos val="nextTo"/>
        <c:spPr>
          <a:noFill/>
          <a:ln w="15875" cap="flat" cmpd="sng" algn="ctr">
            <a:solidFill>
              <a:schemeClr val="tx1">
                <a:lumMod val="95000"/>
                <a:lumOff val="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PK"/>
          </a:p>
        </c:txPr>
        <c:crossAx val="589491584"/>
        <c:crosses val="autoZero"/>
        <c:auto val="1"/>
        <c:lblAlgn val="ctr"/>
        <c:lblOffset val="100"/>
        <c:noMultiLvlLbl val="0"/>
      </c:catAx>
      <c:valAx>
        <c:axId val="589491584"/>
        <c:scaling>
          <c:orientation val="minMax"/>
        </c:scaling>
        <c:delete val="0"/>
        <c:axPos val="l"/>
        <c:title>
          <c:tx>
            <c:rich>
              <a:bodyPr rot="-5400000" spcFirstLastPara="1" vertOverflow="ellipsis" vert="horz" wrap="square" anchor="ctr" anchorCtr="1"/>
              <a:lstStyle/>
              <a:p>
                <a:pPr>
                  <a:defRPr sz="1050" b="1" i="0" u="none" strike="noStrike" kern="1200" baseline="0">
                    <a:solidFill>
                      <a:schemeClr val="tx1"/>
                    </a:solidFill>
                    <a:latin typeface="+mn-lt"/>
                    <a:ea typeface="+mn-ea"/>
                    <a:cs typeface="+mn-cs"/>
                  </a:defRPr>
                </a:pPr>
                <a:r>
                  <a:rPr lang="en-US" sz="1050" b="1">
                    <a:solidFill>
                      <a:schemeClr val="tx1"/>
                    </a:solidFill>
                  </a:rPr>
                  <a:t>Avg_Sales</a:t>
                </a:r>
              </a:p>
            </c:rich>
          </c:tx>
          <c:layout>
            <c:manualLayout>
              <c:xMode val="edge"/>
              <c:yMode val="edge"/>
              <c:x val="1.3888888888888888E-2"/>
              <c:y val="0.37422827354913962"/>
            </c:manualLayout>
          </c:layout>
          <c:overlay val="0"/>
          <c:spPr>
            <a:noFill/>
            <a:ln>
              <a:noFill/>
            </a:ln>
            <a:effectLst/>
          </c:spPr>
          <c:txPr>
            <a:bodyPr rot="-54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PK"/>
            </a:p>
          </c:txPr>
        </c:title>
        <c:numFmt formatCode="0" sourceLinked="1"/>
        <c:majorTickMark val="none"/>
        <c:minorTickMark val="none"/>
        <c:tickLblPos val="nextTo"/>
        <c:spPr>
          <a:noFill/>
          <a:ln w="15875">
            <a:solidFill>
              <a:schemeClr val="tx1">
                <a:lumMod val="95000"/>
                <a:lumOff val="5000"/>
              </a:schemeClr>
            </a:solid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PK"/>
          </a:p>
        </c:txPr>
        <c:crossAx val="589491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2">
        <a:lumMod val="20000"/>
        <a:lumOff val="80000"/>
      </a:schemeClr>
    </a:solidFill>
    <a:ln w="22225" cap="flat" cmpd="sng" algn="ctr">
      <a:solidFill>
        <a:schemeClr val="bg2">
          <a:lumMod val="10000"/>
        </a:schemeClr>
      </a:solidFill>
      <a:round/>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[Walmart-sales.xlsx]Sales!PivotTable4</c:name>
    <c:fmtId val="16"/>
  </c:pivotSource>
  <c:chart>
    <c:title>
      <c:tx>
        <c:rich>
          <a:bodyPr rot="0" spcFirstLastPara="1" vertOverflow="ellipsis" vert="horz" wrap="square" anchor="ctr" anchorCtr="1"/>
          <a:lstStyle/>
          <a:p>
            <a:pPr algn="ctr" rtl="0">
              <a:defRPr lang="en-US" sz="1600" b="0" i="0" u="none" strike="noStrike" kern="1200" spc="0" baseline="0" dirty="0">
                <a:solidFill>
                  <a:schemeClr val="tx1"/>
                </a:solidFill>
                <a:latin typeface="Segoe UI Semibold" panose="020B0702040204020203" pitchFamily="34" charset="0"/>
                <a:ea typeface="+mn-ea"/>
                <a:cs typeface="Segoe UI Semibold" panose="020B0702040204020203" pitchFamily="34" charset="0"/>
              </a:defRPr>
            </a:pPr>
            <a:r>
              <a:rPr lang="en-US" sz="1600" b="0" i="0" u="none" strike="noStrike" kern="1200" spc="0" baseline="0" dirty="0">
                <a:solidFill>
                  <a:schemeClr val="tx1"/>
                </a:solidFill>
                <a:latin typeface="Segoe UI Semibold" panose="020B0702040204020203" pitchFamily="34" charset="0"/>
                <a:ea typeface="+mn-ea"/>
                <a:cs typeface="Segoe UI Semibold" panose="020B0702040204020203" pitchFamily="34" charset="0"/>
              </a:rPr>
              <a:t>Bottom 5 Stores w.r.t Sales</a:t>
            </a:r>
          </a:p>
        </c:rich>
      </c:tx>
      <c:layout>
        <c:manualLayout>
          <c:xMode val="edge"/>
          <c:yMode val="edge"/>
          <c:x val="0.30618750000000006"/>
          <c:y val="1.9257070707070709E-2"/>
        </c:manualLayout>
      </c:layout>
      <c:overlay val="0"/>
      <c:spPr>
        <a:noFill/>
        <a:ln>
          <a:noFill/>
        </a:ln>
        <a:effectLst/>
      </c:spPr>
      <c:txPr>
        <a:bodyPr rot="0" spcFirstLastPara="1" vertOverflow="ellipsis" vert="horz" wrap="square" anchor="ctr" anchorCtr="1"/>
        <a:lstStyle/>
        <a:p>
          <a:pPr algn="ctr" rtl="0">
            <a:defRPr lang="en-US" sz="1600" b="0" i="0" u="none" strike="noStrike" kern="1200" spc="0" baseline="0" dirty="0">
              <a:solidFill>
                <a:schemeClr val="tx1"/>
              </a:solidFill>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lumMod val="50000"/>
            </a:schemeClr>
          </a:solidFill>
          <a:ln>
            <a:noFill/>
          </a:ln>
          <a:effectLst/>
        </c:spPr>
      </c:pivotFmt>
      <c:pivotFmt>
        <c:idx val="2"/>
        <c:spPr>
          <a:solidFill>
            <a:schemeClr val="accent2">
              <a:lumMod val="75000"/>
            </a:schemeClr>
          </a:solidFill>
          <a:ln>
            <a:noFill/>
          </a:ln>
          <a:effectLst/>
        </c:spPr>
      </c:pivotFmt>
      <c:pivotFmt>
        <c:idx val="3"/>
        <c:spPr>
          <a:solidFill>
            <a:schemeClr val="accent2">
              <a:lumMod val="60000"/>
              <a:lumOff val="40000"/>
            </a:schemeClr>
          </a:solidFill>
          <a:ln>
            <a:noFill/>
          </a:ln>
          <a:effectLst/>
        </c:spPr>
      </c:pivotFmt>
      <c:pivotFmt>
        <c:idx val="4"/>
        <c:spPr>
          <a:solidFill>
            <a:schemeClr val="accent2">
              <a:lumMod val="40000"/>
              <a:lumOff val="60000"/>
            </a:schemeClr>
          </a:solidFill>
          <a:ln>
            <a:noFill/>
          </a:ln>
          <a:effectLst/>
        </c:spPr>
      </c:pivotFmt>
      <c:pivotFmt>
        <c:idx val="5"/>
        <c:spPr>
          <a:solidFill>
            <a:schemeClr val="accent2">
              <a:lumMod val="20000"/>
              <a:lumOff val="80000"/>
            </a:schemeClr>
          </a:solidFill>
          <a:ln>
            <a:noFill/>
          </a:ln>
          <a:effectLst/>
        </c:spPr>
      </c:pivotFmt>
      <c:pivotFmt>
        <c:idx val="6"/>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lumMod val="50000"/>
            </a:schemeClr>
          </a:solidFill>
          <a:ln>
            <a:noFill/>
          </a:ln>
          <a:effectLst/>
        </c:spPr>
      </c:pivotFmt>
      <c:pivotFmt>
        <c:idx val="8"/>
        <c:spPr>
          <a:solidFill>
            <a:schemeClr val="accent2">
              <a:lumMod val="75000"/>
            </a:schemeClr>
          </a:solidFill>
          <a:ln>
            <a:noFill/>
          </a:ln>
          <a:effectLst/>
        </c:spPr>
      </c:pivotFmt>
      <c:pivotFmt>
        <c:idx val="9"/>
        <c:spPr>
          <a:solidFill>
            <a:schemeClr val="accent2">
              <a:lumMod val="60000"/>
              <a:lumOff val="40000"/>
            </a:schemeClr>
          </a:solidFill>
          <a:ln>
            <a:noFill/>
          </a:ln>
          <a:effectLst/>
        </c:spPr>
      </c:pivotFmt>
      <c:pivotFmt>
        <c:idx val="10"/>
        <c:spPr>
          <a:solidFill>
            <a:schemeClr val="accent2">
              <a:lumMod val="40000"/>
              <a:lumOff val="60000"/>
            </a:schemeClr>
          </a:solidFill>
          <a:ln>
            <a:noFill/>
          </a:ln>
          <a:effectLst/>
        </c:spPr>
      </c:pivotFmt>
      <c:pivotFmt>
        <c:idx val="11"/>
        <c:spPr>
          <a:solidFill>
            <a:schemeClr val="accent2">
              <a:lumMod val="20000"/>
              <a:lumOff val="80000"/>
            </a:schemeClr>
          </a:solidFill>
          <a:ln>
            <a:noFill/>
          </a:ln>
          <a:effectLst/>
        </c:spPr>
      </c:pivotFmt>
      <c:pivotFmt>
        <c:idx val="12"/>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2">
              <a:lumMod val="50000"/>
            </a:schemeClr>
          </a:solidFill>
          <a:ln>
            <a:noFill/>
          </a:ln>
          <a:effectLst/>
        </c:spPr>
      </c:pivotFmt>
      <c:pivotFmt>
        <c:idx val="14"/>
        <c:spPr>
          <a:solidFill>
            <a:schemeClr val="accent2">
              <a:lumMod val="75000"/>
            </a:schemeClr>
          </a:solidFill>
          <a:ln>
            <a:noFill/>
          </a:ln>
          <a:effectLst/>
        </c:spPr>
      </c:pivotFmt>
      <c:pivotFmt>
        <c:idx val="15"/>
        <c:spPr>
          <a:solidFill>
            <a:schemeClr val="accent2">
              <a:lumMod val="60000"/>
              <a:lumOff val="40000"/>
            </a:schemeClr>
          </a:solidFill>
          <a:ln>
            <a:noFill/>
          </a:ln>
          <a:effectLst/>
        </c:spPr>
      </c:pivotFmt>
      <c:pivotFmt>
        <c:idx val="16"/>
        <c:spPr>
          <a:solidFill>
            <a:schemeClr val="accent2">
              <a:lumMod val="40000"/>
              <a:lumOff val="60000"/>
            </a:schemeClr>
          </a:solidFill>
          <a:ln>
            <a:noFill/>
          </a:ln>
          <a:effectLst/>
        </c:spPr>
      </c:pivotFmt>
      <c:pivotFmt>
        <c:idx val="17"/>
        <c:spPr>
          <a:solidFill>
            <a:schemeClr val="accent2">
              <a:lumMod val="20000"/>
              <a:lumOff val="80000"/>
            </a:schemeClr>
          </a:solidFill>
          <a:ln>
            <a:noFill/>
          </a:ln>
          <a:effectLst/>
        </c:spPr>
      </c:pivotFmt>
    </c:pivotFmts>
    <c:plotArea>
      <c:layout/>
      <c:barChart>
        <c:barDir val="col"/>
        <c:grouping val="clustered"/>
        <c:varyColors val="0"/>
        <c:ser>
          <c:idx val="0"/>
          <c:order val="0"/>
          <c:tx>
            <c:strRef>
              <c:f>Sales!$P$63740</c:f>
              <c:strCache>
                <c:ptCount val="1"/>
                <c:pt idx="0">
                  <c:v>Total</c:v>
                </c:pt>
              </c:strCache>
            </c:strRef>
          </c:tx>
          <c:spPr>
            <a:solidFill>
              <a:srgbClr val="FF0000"/>
            </a:solidFill>
            <a:ln>
              <a:noFill/>
            </a:ln>
            <a:effectLst/>
          </c:spPr>
          <c:invertIfNegative val="0"/>
          <c:dPt>
            <c:idx val="0"/>
            <c:invertIfNegative val="0"/>
            <c:bubble3D val="0"/>
            <c:spPr>
              <a:solidFill>
                <a:schemeClr val="accent2">
                  <a:lumMod val="50000"/>
                </a:schemeClr>
              </a:solidFill>
              <a:ln>
                <a:noFill/>
              </a:ln>
              <a:effectLst/>
            </c:spPr>
            <c:extLst>
              <c:ext xmlns:c16="http://schemas.microsoft.com/office/drawing/2014/chart" uri="{C3380CC4-5D6E-409C-BE32-E72D297353CC}">
                <c16:uniqueId val="{00000001-E954-4F11-8564-A037DA64903D}"/>
              </c:ext>
            </c:extLst>
          </c:dPt>
          <c:dPt>
            <c:idx val="1"/>
            <c:invertIfNegative val="0"/>
            <c:bubble3D val="0"/>
            <c:spPr>
              <a:solidFill>
                <a:schemeClr val="accent2">
                  <a:lumMod val="75000"/>
                </a:schemeClr>
              </a:solidFill>
              <a:ln>
                <a:noFill/>
              </a:ln>
              <a:effectLst/>
            </c:spPr>
            <c:extLst>
              <c:ext xmlns:c16="http://schemas.microsoft.com/office/drawing/2014/chart" uri="{C3380CC4-5D6E-409C-BE32-E72D297353CC}">
                <c16:uniqueId val="{00000003-E954-4F11-8564-A037DA64903D}"/>
              </c:ext>
            </c:extLst>
          </c:dPt>
          <c:dPt>
            <c:idx val="2"/>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5-E954-4F11-8564-A037DA64903D}"/>
              </c:ext>
            </c:extLst>
          </c:dPt>
          <c:dPt>
            <c:idx val="3"/>
            <c:invertIfNegative val="0"/>
            <c:bubble3D val="0"/>
            <c:spPr>
              <a:solidFill>
                <a:schemeClr val="accent2">
                  <a:lumMod val="40000"/>
                  <a:lumOff val="60000"/>
                </a:schemeClr>
              </a:solidFill>
              <a:ln>
                <a:noFill/>
              </a:ln>
              <a:effectLst/>
            </c:spPr>
            <c:extLst>
              <c:ext xmlns:c16="http://schemas.microsoft.com/office/drawing/2014/chart" uri="{C3380CC4-5D6E-409C-BE32-E72D297353CC}">
                <c16:uniqueId val="{00000007-E954-4F11-8564-A037DA64903D}"/>
              </c:ext>
            </c:extLst>
          </c:dPt>
          <c:dPt>
            <c:idx val="4"/>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9-E954-4F11-8564-A037DA64903D}"/>
              </c:ext>
            </c:extLst>
          </c:dPt>
          <c:cat>
            <c:strRef>
              <c:f>Sales!$O$63741:$O$63746</c:f>
              <c:strCache>
                <c:ptCount val="5"/>
                <c:pt idx="0">
                  <c:v>33</c:v>
                </c:pt>
                <c:pt idx="1">
                  <c:v>44</c:v>
                </c:pt>
                <c:pt idx="2">
                  <c:v>36</c:v>
                </c:pt>
                <c:pt idx="3">
                  <c:v>38</c:v>
                </c:pt>
                <c:pt idx="4">
                  <c:v>30</c:v>
                </c:pt>
              </c:strCache>
            </c:strRef>
          </c:cat>
          <c:val>
            <c:numRef>
              <c:f>Sales!$P$63741:$P$63746</c:f>
              <c:numCache>
                <c:formatCode>0</c:formatCode>
                <c:ptCount val="5"/>
                <c:pt idx="0">
                  <c:v>3670.1484112149428</c:v>
                </c:pt>
                <c:pt idx="1">
                  <c:v>4338.2325704225295</c:v>
                </c:pt>
                <c:pt idx="2">
                  <c:v>4591.843330612247</c:v>
                </c:pt>
                <c:pt idx="3">
                  <c:v>4820.6209614034942</c:v>
                </c:pt>
                <c:pt idx="4">
                  <c:v>6244.8144019816073</c:v>
                </c:pt>
              </c:numCache>
            </c:numRef>
          </c:val>
          <c:extLst>
            <c:ext xmlns:c16="http://schemas.microsoft.com/office/drawing/2014/chart" uri="{C3380CC4-5D6E-409C-BE32-E72D297353CC}">
              <c16:uniqueId val="{0000000A-E954-4F11-8564-A037DA64903D}"/>
            </c:ext>
          </c:extLst>
        </c:ser>
        <c:dLbls>
          <c:showLegendKey val="0"/>
          <c:showVal val="0"/>
          <c:showCatName val="0"/>
          <c:showSerName val="0"/>
          <c:showPercent val="0"/>
          <c:showBubbleSize val="0"/>
        </c:dLbls>
        <c:gapWidth val="219"/>
        <c:overlap val="-27"/>
        <c:axId val="1078414992"/>
        <c:axId val="1078416912"/>
      </c:barChart>
      <c:catAx>
        <c:axId val="1078414992"/>
        <c:scaling>
          <c:orientation val="minMax"/>
        </c:scaling>
        <c:delete val="0"/>
        <c:axPos val="b"/>
        <c:title>
          <c:tx>
            <c:rich>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r>
                  <a:rPr lang="en-US" sz="1050" b="1">
                    <a:solidFill>
                      <a:schemeClr val="tx1"/>
                    </a:solidFill>
                  </a:rPr>
                  <a:t>Stores</a:t>
                </a:r>
              </a:p>
            </c:rich>
          </c:tx>
          <c:layout>
            <c:manualLayout>
              <c:xMode val="edge"/>
              <c:yMode val="edge"/>
              <c:x val="0.46536481481481484"/>
              <c:y val="0.91153222222222219"/>
            </c:manualLayout>
          </c:layout>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PK"/>
            </a:p>
          </c:txPr>
        </c:title>
        <c:numFmt formatCode="General" sourceLinked="1"/>
        <c:majorTickMark val="none"/>
        <c:minorTickMark val="none"/>
        <c:tickLblPos val="nextTo"/>
        <c:spPr>
          <a:noFill/>
          <a:ln w="15875" cap="flat" cmpd="sng" algn="ctr">
            <a:solidFill>
              <a:schemeClr val="tx1">
                <a:lumMod val="95000"/>
                <a:lumOff val="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PK"/>
          </a:p>
        </c:txPr>
        <c:crossAx val="1078416912"/>
        <c:crosses val="autoZero"/>
        <c:auto val="1"/>
        <c:lblAlgn val="ctr"/>
        <c:lblOffset val="100"/>
        <c:noMultiLvlLbl val="0"/>
      </c:catAx>
      <c:valAx>
        <c:axId val="1078416912"/>
        <c:scaling>
          <c:orientation val="minMax"/>
        </c:scaling>
        <c:delete val="0"/>
        <c:axPos val="l"/>
        <c:title>
          <c:tx>
            <c:rich>
              <a:bodyPr rot="-5400000" spcFirstLastPara="1" vertOverflow="ellipsis" vert="horz" wrap="square" anchor="ctr" anchorCtr="1"/>
              <a:lstStyle/>
              <a:p>
                <a:pPr>
                  <a:defRPr sz="1050" b="1" i="0" u="none" strike="noStrike" kern="1200" baseline="0">
                    <a:solidFill>
                      <a:schemeClr val="tx1"/>
                    </a:solidFill>
                    <a:latin typeface="+mn-lt"/>
                    <a:ea typeface="+mn-ea"/>
                    <a:cs typeface="+mn-cs"/>
                  </a:defRPr>
                </a:pPr>
                <a:r>
                  <a:rPr lang="en-US" sz="1050" b="1">
                    <a:solidFill>
                      <a:schemeClr val="tx1"/>
                    </a:solidFill>
                  </a:rPr>
                  <a:t>Avg_Sales</a:t>
                </a:r>
              </a:p>
            </c:rich>
          </c:tx>
          <c:layout>
            <c:manualLayout>
              <c:xMode val="edge"/>
              <c:yMode val="edge"/>
              <c:x val="2.2222222222222223E-2"/>
              <c:y val="0.37531641878098565"/>
            </c:manualLayout>
          </c:layout>
          <c:overlay val="0"/>
          <c:spPr>
            <a:noFill/>
            <a:ln>
              <a:noFill/>
            </a:ln>
            <a:effectLst/>
          </c:spPr>
          <c:txPr>
            <a:bodyPr rot="-54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PK"/>
            </a:p>
          </c:txPr>
        </c:title>
        <c:numFmt formatCode="0" sourceLinked="1"/>
        <c:majorTickMark val="none"/>
        <c:minorTickMark val="none"/>
        <c:tickLblPos val="nextTo"/>
        <c:spPr>
          <a:noFill/>
          <a:ln w="15875">
            <a:solidFill>
              <a:schemeClr val="tx1">
                <a:lumMod val="95000"/>
                <a:lumOff val="5000"/>
              </a:schemeClr>
            </a:solid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PK"/>
          </a:p>
        </c:txPr>
        <c:crossAx val="10784149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2">
        <a:lumMod val="20000"/>
        <a:lumOff val="80000"/>
      </a:schemeClr>
    </a:solidFill>
    <a:ln w="22225" cap="flat" cmpd="sng" algn="ctr">
      <a:solidFill>
        <a:schemeClr val="bg2">
          <a:lumMod val="10000"/>
        </a:schemeClr>
      </a:solidFill>
      <a:round/>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[Walmart-sales.xlsx]Sales!PivotTable5</c:name>
    <c:fmtId val="18"/>
  </c:pivotSource>
  <c:chart>
    <c:title>
      <c:tx>
        <c:rich>
          <a:bodyPr rot="0" spcFirstLastPara="1" vertOverflow="ellipsis" vert="horz" wrap="square" anchor="ctr" anchorCtr="1"/>
          <a:lstStyle/>
          <a:p>
            <a:pPr algn="ctr" rtl="0">
              <a:defRPr lang="en-US" sz="1600" b="1" i="0" u="none" strike="noStrike" kern="1200" spc="0" baseline="0">
                <a:solidFill>
                  <a:schemeClr val="bg1"/>
                </a:solidFill>
                <a:latin typeface="Segoe UI Semibold" panose="020B0702040204020203" pitchFamily="34" charset="0"/>
                <a:ea typeface="+mn-ea"/>
                <a:cs typeface="Segoe UI Semibold" panose="020B0702040204020203" pitchFamily="34" charset="0"/>
              </a:defRPr>
            </a:pPr>
            <a:r>
              <a:rPr lang="en-US" sz="1600" b="1" i="0" u="none" strike="noStrike" kern="1200" spc="0" baseline="0">
                <a:solidFill>
                  <a:schemeClr val="bg1"/>
                </a:solidFill>
                <a:latin typeface="Segoe UI Semibold" panose="020B0702040204020203" pitchFamily="34" charset="0"/>
                <a:ea typeface="+mn-ea"/>
                <a:cs typeface="Segoe UI Semibold" panose="020B0702040204020203" pitchFamily="34" charset="0"/>
              </a:rPr>
              <a:t>Avg_Sales Store Type</a:t>
            </a:r>
          </a:p>
        </c:rich>
      </c:tx>
      <c:layout>
        <c:manualLayout>
          <c:xMode val="edge"/>
          <c:yMode val="edge"/>
          <c:x val="0.29194055908843719"/>
          <c:y val="2.4874753007086692E-2"/>
        </c:manualLayout>
      </c:layout>
      <c:overlay val="0"/>
      <c:spPr>
        <a:noFill/>
        <a:ln>
          <a:noFill/>
        </a:ln>
        <a:effectLst/>
      </c:spPr>
      <c:txPr>
        <a:bodyPr rot="0" spcFirstLastPara="1" vertOverflow="ellipsis" vert="horz" wrap="square" anchor="ctr" anchorCtr="1"/>
        <a:lstStyle/>
        <a:p>
          <a:pPr algn="ctr" rtl="0">
            <a:defRPr lang="en-US" sz="1600" b="1" i="0" u="none" strike="noStrike" kern="1200" spc="0" baseline="0">
              <a:solidFill>
                <a:schemeClr val="bg1"/>
              </a:solidFill>
              <a:latin typeface="Segoe UI Semibold" panose="020B0702040204020203" pitchFamily="34" charset="0"/>
              <a:ea typeface="+mn-ea"/>
              <a:cs typeface="Segoe UI Semibold" panose="020B0702040204020203" pitchFamily="34" charset="0"/>
            </a:defRPr>
          </a:pPr>
          <a:endParaRPr lang="en-PK"/>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92D050"/>
          </a:solidFill>
          <a:ln>
            <a:noFill/>
          </a:ln>
          <a:effectLst/>
        </c:spPr>
      </c:pivotFmt>
      <c:pivotFmt>
        <c:idx val="2"/>
        <c:spPr>
          <a:solidFill>
            <a:srgbClr val="FFC000"/>
          </a:solidFill>
          <a:ln>
            <a:noFill/>
          </a:ln>
          <a:effectLst/>
        </c:spPr>
      </c:pivotFmt>
      <c:pivotFmt>
        <c:idx val="3"/>
        <c:spPr>
          <a:solidFill>
            <a:srgbClr val="FF0000"/>
          </a:solidFill>
          <a:ln>
            <a:noFill/>
          </a:ln>
          <a:effectLst/>
        </c:spP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92D050"/>
          </a:solidFill>
          <a:ln>
            <a:noFill/>
          </a:ln>
          <a:effectLst/>
        </c:spPr>
      </c:pivotFmt>
      <c:pivotFmt>
        <c:idx val="6"/>
        <c:spPr>
          <a:solidFill>
            <a:srgbClr val="FFC000"/>
          </a:solidFill>
          <a:ln>
            <a:noFill/>
          </a:ln>
          <a:effectLst/>
        </c:spPr>
      </c:pivotFmt>
      <c:pivotFmt>
        <c:idx val="7"/>
        <c:spPr>
          <a:solidFill>
            <a:srgbClr val="FF0000"/>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92D050"/>
          </a:solidFill>
          <a:ln>
            <a:noFill/>
          </a:ln>
          <a:effectLst/>
        </c:spPr>
      </c:pivotFmt>
      <c:pivotFmt>
        <c:idx val="10"/>
        <c:spPr>
          <a:solidFill>
            <a:srgbClr val="FFC000"/>
          </a:solidFill>
          <a:ln>
            <a:noFill/>
          </a:ln>
          <a:effectLst/>
        </c:spPr>
      </c:pivotFmt>
      <c:pivotFmt>
        <c:idx val="11"/>
        <c:spPr>
          <a:solidFill>
            <a:srgbClr val="FF0000"/>
          </a:solidFill>
          <a:ln>
            <a:noFill/>
          </a:ln>
          <a:effectLst/>
        </c:spPr>
      </c:pivotFmt>
    </c:pivotFmts>
    <c:plotArea>
      <c:layout/>
      <c:barChart>
        <c:barDir val="col"/>
        <c:grouping val="clustered"/>
        <c:varyColors val="0"/>
        <c:ser>
          <c:idx val="0"/>
          <c:order val="0"/>
          <c:tx>
            <c:strRef>
              <c:f>Sales!$L$63754</c:f>
              <c:strCache>
                <c:ptCount val="1"/>
                <c:pt idx="0">
                  <c:v>Total</c:v>
                </c:pt>
              </c:strCache>
            </c:strRef>
          </c:tx>
          <c:spPr>
            <a:solidFill>
              <a:srgbClr val="FFC000"/>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09F-4F0B-97F9-1CD918D6816A}"/>
              </c:ext>
            </c:extLst>
          </c:dPt>
          <c:dPt>
            <c:idx val="1"/>
            <c:invertIfNegative val="0"/>
            <c:bubble3D val="0"/>
            <c:spPr>
              <a:solidFill>
                <a:srgbClr val="FFC000"/>
              </a:solidFill>
              <a:ln>
                <a:noFill/>
              </a:ln>
              <a:effectLst/>
            </c:spPr>
            <c:extLst>
              <c:ext xmlns:c16="http://schemas.microsoft.com/office/drawing/2014/chart" uri="{C3380CC4-5D6E-409C-BE32-E72D297353CC}">
                <c16:uniqueId val="{00000003-309F-4F0B-97F9-1CD918D6816A}"/>
              </c:ext>
            </c:extLst>
          </c:dPt>
          <c:dPt>
            <c:idx val="2"/>
            <c:invertIfNegative val="0"/>
            <c:bubble3D val="0"/>
            <c:spPr>
              <a:solidFill>
                <a:srgbClr val="FF0000"/>
              </a:solidFill>
              <a:ln>
                <a:noFill/>
              </a:ln>
              <a:effectLst/>
            </c:spPr>
            <c:extLst>
              <c:ext xmlns:c16="http://schemas.microsoft.com/office/drawing/2014/chart" uri="{C3380CC4-5D6E-409C-BE32-E72D297353CC}">
                <c16:uniqueId val="{00000005-309F-4F0B-97F9-1CD918D6816A}"/>
              </c:ext>
            </c:extLst>
          </c:dPt>
          <c:cat>
            <c:strRef>
              <c:f>Sales!$K$63755:$K$63758</c:f>
              <c:strCache>
                <c:ptCount val="3"/>
                <c:pt idx="0">
                  <c:v>A</c:v>
                </c:pt>
                <c:pt idx="1">
                  <c:v>B</c:v>
                </c:pt>
                <c:pt idx="2">
                  <c:v>C</c:v>
                </c:pt>
              </c:strCache>
            </c:strRef>
          </c:cat>
          <c:val>
            <c:numRef>
              <c:f>Sales!$L$63755:$L$63758</c:f>
              <c:numCache>
                <c:formatCode>0</c:formatCode>
                <c:ptCount val="3"/>
                <c:pt idx="0">
                  <c:v>27257.945372400121</c:v>
                </c:pt>
                <c:pt idx="1">
                  <c:v>21305.169499382908</c:v>
                </c:pt>
                <c:pt idx="2">
                  <c:v>6110.9806519908898</c:v>
                </c:pt>
              </c:numCache>
            </c:numRef>
          </c:val>
          <c:extLst>
            <c:ext xmlns:c16="http://schemas.microsoft.com/office/drawing/2014/chart" uri="{C3380CC4-5D6E-409C-BE32-E72D297353CC}">
              <c16:uniqueId val="{00000006-309F-4F0B-97F9-1CD918D6816A}"/>
            </c:ext>
          </c:extLst>
        </c:ser>
        <c:dLbls>
          <c:showLegendKey val="0"/>
          <c:showVal val="0"/>
          <c:showCatName val="0"/>
          <c:showSerName val="0"/>
          <c:showPercent val="0"/>
          <c:showBubbleSize val="0"/>
        </c:dLbls>
        <c:gapWidth val="219"/>
        <c:overlap val="-27"/>
        <c:axId val="617771472"/>
        <c:axId val="617771952"/>
      </c:barChart>
      <c:catAx>
        <c:axId val="617771472"/>
        <c:scaling>
          <c:orientation val="minMax"/>
        </c:scaling>
        <c:delete val="0"/>
        <c:axPos val="b"/>
        <c:title>
          <c:tx>
            <c:rich>
              <a:bodyPr rot="0" spcFirstLastPara="1" vertOverflow="ellipsis" vert="horz" wrap="square" anchor="ctr" anchorCtr="1"/>
              <a:lstStyle/>
              <a:p>
                <a:pPr>
                  <a:defRPr lang="en-US" sz="1000" b="0" i="0" u="none" strike="noStrike" kern="1200" baseline="0">
                    <a:solidFill>
                      <a:schemeClr val="bg1"/>
                    </a:solidFill>
                    <a:latin typeface="+mn-lt"/>
                    <a:ea typeface="+mn-ea"/>
                    <a:cs typeface="+mn-cs"/>
                  </a:defRPr>
                </a:pPr>
                <a:r>
                  <a:rPr lang="en-US" sz="1400" b="1">
                    <a:solidFill>
                      <a:schemeClr val="bg1"/>
                    </a:solidFill>
                  </a:rPr>
                  <a:t>Type</a:t>
                </a:r>
              </a:p>
            </c:rich>
          </c:tx>
          <c:layout>
            <c:manualLayout>
              <c:xMode val="edge"/>
              <c:yMode val="edge"/>
              <c:x val="0.44314610966745321"/>
              <c:y val="0.89343326036336257"/>
            </c:manualLayout>
          </c:layout>
          <c:overlay val="0"/>
          <c:spPr>
            <a:noFill/>
            <a:ln>
              <a:noFill/>
            </a:ln>
            <a:effectLst/>
          </c:spPr>
          <c:txPr>
            <a:bodyPr rot="0" spcFirstLastPara="1" vertOverflow="ellipsis" vert="horz" wrap="square" anchor="ctr" anchorCtr="1"/>
            <a:lstStyle/>
            <a:p>
              <a:pPr>
                <a:defRPr lang="en-US" sz="1000" b="0" i="0" u="none" strike="noStrike" kern="1200" baseline="0">
                  <a:solidFill>
                    <a:schemeClr val="bg1"/>
                  </a:solidFill>
                  <a:latin typeface="+mn-lt"/>
                  <a:ea typeface="+mn-ea"/>
                  <a:cs typeface="+mn-cs"/>
                </a:defRPr>
              </a:pPr>
              <a:endParaRPr lang="en-PK"/>
            </a:p>
          </c:txPr>
        </c:title>
        <c:numFmt formatCode="General" sourceLinked="1"/>
        <c:majorTickMark val="none"/>
        <c:minorTickMark val="none"/>
        <c:tickLblPos val="nextTo"/>
        <c:spPr>
          <a:noFill/>
          <a:ln w="19050" cap="flat" cmpd="sng" algn="ctr">
            <a:solidFill>
              <a:schemeClr val="bg1"/>
            </a:solidFill>
            <a:round/>
          </a:ln>
          <a:effectLst/>
        </c:spPr>
        <c:txPr>
          <a:bodyPr rot="-60000000" spcFirstLastPara="1" vertOverflow="ellipsis" vert="horz" wrap="square" anchor="ctr" anchorCtr="1"/>
          <a:lstStyle/>
          <a:p>
            <a:pPr>
              <a:defRPr lang="en-US" sz="1000" b="0" i="0" u="none" strike="noStrike" kern="1200" baseline="0">
                <a:solidFill>
                  <a:schemeClr val="bg1"/>
                </a:solidFill>
                <a:latin typeface="+mn-lt"/>
                <a:ea typeface="+mn-ea"/>
                <a:cs typeface="+mn-cs"/>
              </a:defRPr>
            </a:pPr>
            <a:endParaRPr lang="en-PK"/>
          </a:p>
        </c:txPr>
        <c:crossAx val="617771952"/>
        <c:crosses val="autoZero"/>
        <c:auto val="1"/>
        <c:lblAlgn val="ctr"/>
        <c:lblOffset val="100"/>
        <c:noMultiLvlLbl val="0"/>
      </c:catAx>
      <c:valAx>
        <c:axId val="617771952"/>
        <c:scaling>
          <c:orientation val="minMax"/>
        </c:scaling>
        <c:delete val="0"/>
        <c:axPos val="l"/>
        <c:title>
          <c:tx>
            <c:rich>
              <a:bodyPr rot="-5400000" spcFirstLastPara="1" vertOverflow="ellipsis" vert="horz" wrap="square" anchor="ctr" anchorCtr="1"/>
              <a:lstStyle/>
              <a:p>
                <a:pPr>
                  <a:defRPr lang="en-US" sz="1400" b="0" i="0" u="none" strike="noStrike" kern="1200" baseline="0">
                    <a:solidFill>
                      <a:schemeClr val="bg1"/>
                    </a:solidFill>
                    <a:latin typeface="+mn-lt"/>
                    <a:ea typeface="+mn-ea"/>
                    <a:cs typeface="+mn-cs"/>
                  </a:defRPr>
                </a:pPr>
                <a:r>
                  <a:rPr lang="en-US" sz="1400" b="1">
                    <a:solidFill>
                      <a:schemeClr val="bg1"/>
                    </a:solidFill>
                  </a:rPr>
                  <a:t>Sales</a:t>
                </a:r>
              </a:p>
            </c:rich>
          </c:tx>
          <c:layout>
            <c:manualLayout>
              <c:xMode val="edge"/>
              <c:yMode val="edge"/>
              <c:x val="1.6015153651359817E-2"/>
              <c:y val="0.36999203812039566"/>
            </c:manualLayout>
          </c:layout>
          <c:overlay val="0"/>
          <c:spPr>
            <a:noFill/>
            <a:ln>
              <a:noFill/>
            </a:ln>
            <a:effectLst/>
          </c:spPr>
          <c:txPr>
            <a:bodyPr rot="-5400000" spcFirstLastPara="1" vertOverflow="ellipsis" vert="horz" wrap="square" anchor="ctr" anchorCtr="1"/>
            <a:lstStyle/>
            <a:p>
              <a:pPr>
                <a:defRPr lang="en-US" sz="1400" b="0" i="0" u="none" strike="noStrike" kern="1200" baseline="0">
                  <a:solidFill>
                    <a:schemeClr val="bg1"/>
                  </a:solidFill>
                  <a:latin typeface="+mn-lt"/>
                  <a:ea typeface="+mn-ea"/>
                  <a:cs typeface="+mn-cs"/>
                </a:defRPr>
              </a:pPr>
              <a:endParaRPr lang="en-PK"/>
            </a:p>
          </c:txPr>
        </c:title>
        <c:numFmt formatCode="0" sourceLinked="1"/>
        <c:majorTickMark val="none"/>
        <c:minorTickMark val="none"/>
        <c:tickLblPos val="nextTo"/>
        <c:spPr>
          <a:noFill/>
          <a:ln w="19050">
            <a:solidFill>
              <a:schemeClr val="bg1"/>
            </a:solidFill>
          </a:ln>
          <a:effectLst/>
        </c:spPr>
        <c:txPr>
          <a:bodyPr rot="-60000000" spcFirstLastPara="1" vertOverflow="ellipsis" vert="horz" wrap="square" anchor="ctr" anchorCtr="1"/>
          <a:lstStyle/>
          <a:p>
            <a:pPr>
              <a:defRPr lang="en-US" sz="1000" b="0" i="0" u="none" strike="noStrike" kern="1200" baseline="0">
                <a:solidFill>
                  <a:schemeClr val="bg1"/>
                </a:solidFill>
                <a:latin typeface="+mn-lt"/>
                <a:ea typeface="+mn-ea"/>
                <a:cs typeface="+mn-cs"/>
              </a:defRPr>
            </a:pPr>
            <a:endParaRPr lang="en-PK"/>
          </a:p>
        </c:txPr>
        <c:crossAx val="6177714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en-US" sz="1000" b="0" i="0" u="none" strike="noStrike" kern="1200" baseline="0">
              <a:solidFill>
                <a:schemeClr val="bg1"/>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95000"/>
        <a:lumOff val="5000"/>
      </a:schemeClr>
    </a:solidFill>
    <a:ln w="22225" cap="flat" cmpd="sng" algn="ctr">
      <a:solidFill>
        <a:schemeClr val="tx1">
          <a:lumMod val="95000"/>
          <a:lumOff val="5000"/>
        </a:schemeClr>
      </a:solidFill>
      <a:round/>
    </a:ln>
    <a:effectLst/>
  </c:spPr>
  <c:txPr>
    <a:bodyPr/>
    <a:lstStyle/>
    <a:p>
      <a:pPr>
        <a:defRPr lang="en-US" sz="1000" b="0" i="0" u="none" strike="noStrike" kern="1200" baseline="0">
          <a:solidFill>
            <a:schemeClr val="tx1"/>
          </a:solidFill>
          <a:latin typeface="+mn-lt"/>
          <a:ea typeface="+mn-ea"/>
          <a:cs typeface="+mn-cs"/>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[Walmart-sales.xlsx]Sales!PivotTable7</c:name>
    <c:fmtId val="24"/>
  </c:pivotSource>
  <c:chart>
    <c:title>
      <c:tx>
        <c:rich>
          <a:bodyPr rot="0" spcFirstLastPara="1" vertOverflow="ellipsis" vert="horz" wrap="square" anchor="ctr" anchorCtr="1"/>
          <a:lstStyle/>
          <a:p>
            <a:pPr>
              <a:defRPr sz="1400" b="1" i="0" u="none" strike="noStrike" kern="1200" spc="0" baseline="0">
                <a:solidFill>
                  <a:schemeClr val="bg1"/>
                </a:solidFill>
                <a:latin typeface="Segoe UI Semibold" panose="020B0702040204020203" pitchFamily="34" charset="0"/>
                <a:ea typeface="+mn-ea"/>
                <a:cs typeface="Segoe UI Semibold" panose="020B0702040204020203" pitchFamily="34" charset="0"/>
              </a:defRPr>
            </a:pPr>
            <a:r>
              <a:rPr lang="en-US" b="1" baseline="0">
                <a:solidFill>
                  <a:schemeClr val="bg1"/>
                </a:solidFill>
                <a:latin typeface="Segoe UI Semibold" panose="020B0702040204020203" pitchFamily="34" charset="0"/>
                <a:cs typeface="Segoe UI Semibold" panose="020B0702040204020203" pitchFamily="34" charset="0"/>
              </a:rPr>
              <a:t>holiday vs Non Holiday Count </a:t>
            </a:r>
            <a:endParaRPr lang="en-US" b="1">
              <a:solidFill>
                <a:schemeClr val="bg1"/>
              </a:solidFill>
              <a:latin typeface="Segoe UI Semibold" panose="020B0702040204020203" pitchFamily="34" charset="0"/>
              <a:cs typeface="Segoe UI Semibold" panose="020B0702040204020203" pitchFamily="34" charset="0"/>
            </a:endParaRPr>
          </a:p>
        </c:rich>
      </c:tx>
      <c:layout>
        <c:manualLayout>
          <c:xMode val="edge"/>
          <c:yMode val="edge"/>
          <c:x val="0.2642082239720035"/>
          <c:y val="1.3888888888888888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bg1"/>
              </a:solidFill>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Sales!$M$63787</c:f>
              <c:strCache>
                <c:ptCount val="1"/>
                <c:pt idx="0">
                  <c:v>Total</c:v>
                </c:pt>
              </c:strCache>
            </c:strRef>
          </c:tx>
          <c:spPr>
            <a:solidFill>
              <a:schemeClr val="accent1"/>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0-7D8E-429D-9ECB-4BB2083D1AAB}"/>
              </c:ext>
            </c:extLst>
          </c:dPt>
          <c:dPt>
            <c:idx val="1"/>
            <c:invertIfNegative val="0"/>
            <c:bubble3D val="0"/>
            <c:spPr>
              <a:solidFill>
                <a:schemeClr val="accent2">
                  <a:lumMod val="75000"/>
                </a:schemeClr>
              </a:solidFill>
              <a:ln>
                <a:noFill/>
              </a:ln>
              <a:effectLst/>
            </c:spPr>
            <c:extLst>
              <c:ext xmlns:c16="http://schemas.microsoft.com/office/drawing/2014/chart" uri="{C3380CC4-5D6E-409C-BE32-E72D297353CC}">
                <c16:uniqueId val="{00000001-7D8E-429D-9ECB-4BB2083D1AAB}"/>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Sales!$L$63788:$L$63790</c:f>
              <c:strCache>
                <c:ptCount val="2"/>
                <c:pt idx="0">
                  <c:v>0</c:v>
                </c:pt>
                <c:pt idx="1">
                  <c:v>1</c:v>
                </c:pt>
              </c:strCache>
            </c:strRef>
          </c:cat>
          <c:val>
            <c:numRef>
              <c:f>Sales!$M$63788:$M$63790</c:f>
              <c:numCache>
                <c:formatCode>General</c:formatCode>
                <c:ptCount val="2"/>
                <c:pt idx="0">
                  <c:v>59278</c:v>
                </c:pt>
                <c:pt idx="1">
                  <c:v>4454</c:v>
                </c:pt>
              </c:numCache>
            </c:numRef>
          </c:val>
          <c:extLst>
            <c:ext xmlns:c16="http://schemas.microsoft.com/office/drawing/2014/chart" uri="{C3380CC4-5D6E-409C-BE32-E72D297353CC}">
              <c16:uniqueId val="{00000000-FA3C-41DB-92F2-C0A346EE2AFB}"/>
            </c:ext>
          </c:extLst>
        </c:ser>
        <c:dLbls>
          <c:dLblPos val="outEnd"/>
          <c:showLegendKey val="0"/>
          <c:showVal val="1"/>
          <c:showCatName val="0"/>
          <c:showSerName val="0"/>
          <c:showPercent val="0"/>
          <c:showBubbleSize val="0"/>
        </c:dLbls>
        <c:gapWidth val="219"/>
        <c:overlap val="-27"/>
        <c:axId val="1434004976"/>
        <c:axId val="1434004016"/>
      </c:barChart>
      <c:catAx>
        <c:axId val="1434004976"/>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r>
                  <a:rPr lang="en-US" b="1">
                    <a:solidFill>
                      <a:schemeClr val="bg1"/>
                    </a:solidFill>
                  </a:rPr>
                  <a:t>holiday</a:t>
                </a:r>
                <a:r>
                  <a:rPr lang="en-US" b="1" baseline="0">
                    <a:solidFill>
                      <a:schemeClr val="bg1"/>
                    </a:solidFill>
                  </a:rPr>
                  <a:t> Status</a:t>
                </a:r>
                <a:endParaRPr lang="en-US" b="1">
                  <a:solidFill>
                    <a:schemeClr val="bg1"/>
                  </a:solidFill>
                </a:endParaRPr>
              </a:p>
            </c:rich>
          </c:tx>
          <c:layout>
            <c:manualLayout>
              <c:xMode val="edge"/>
              <c:yMode val="edge"/>
              <c:x val="0.45018175853018372"/>
              <c:y val="0.8786803732866724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bg1"/>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PK"/>
          </a:p>
        </c:txPr>
        <c:crossAx val="1434004016"/>
        <c:crosses val="autoZero"/>
        <c:auto val="1"/>
        <c:lblAlgn val="ctr"/>
        <c:lblOffset val="100"/>
        <c:noMultiLvlLbl val="0"/>
      </c:catAx>
      <c:valAx>
        <c:axId val="1434004016"/>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bg1"/>
                    </a:solidFill>
                    <a:latin typeface="+mn-lt"/>
                    <a:ea typeface="+mn-ea"/>
                    <a:cs typeface="+mn-cs"/>
                  </a:defRPr>
                </a:pPr>
                <a:r>
                  <a:rPr lang="en-US" b="1">
                    <a:solidFill>
                      <a:schemeClr val="bg1"/>
                    </a:solidFill>
                  </a:rPr>
                  <a:t>Count</a:t>
                </a:r>
                <a:r>
                  <a:rPr lang="en-US" b="1" baseline="0">
                    <a:solidFill>
                      <a:schemeClr val="bg1"/>
                    </a:solidFill>
                  </a:rPr>
                  <a:t> holiday</a:t>
                </a:r>
                <a:endParaRPr lang="en-US" b="1">
                  <a:solidFill>
                    <a:schemeClr val="bg1"/>
                  </a:solidFill>
                </a:endParaRPr>
              </a:p>
            </c:rich>
          </c:tx>
          <c:layout>
            <c:manualLayout>
              <c:xMode val="edge"/>
              <c:yMode val="edge"/>
              <c:x val="1.3888888888888888E-2"/>
              <c:y val="0.33453885972586761"/>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15875">
            <a:solidFill>
              <a:schemeClr val="bg1"/>
            </a:solidFill>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PK"/>
          </a:p>
        </c:txPr>
        <c:crossAx val="1434004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95000"/>
        <a:lumOff val="5000"/>
      </a:schemeClr>
    </a:solidFill>
    <a:ln w="15875" cap="flat" cmpd="sng" algn="ctr">
      <a:solidFill>
        <a:schemeClr val="bg1"/>
      </a:solidFill>
      <a:round/>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8EF4BD-B74E-4549-8A88-6BEFBF866BFB}" type="datetimeFigureOut">
              <a:rPr lang="en-PK" smtClean="0"/>
              <a:t>10/11/2025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D3A176-3355-4E74-A06D-2ADD6B09FB9A}" type="slidenum">
              <a:rPr lang="en-PK" smtClean="0"/>
              <a:t>‹#›</a:t>
            </a:fld>
            <a:endParaRPr lang="en-PK"/>
          </a:p>
        </p:txBody>
      </p:sp>
    </p:spTree>
    <p:extLst>
      <p:ext uri="{BB962C8B-B14F-4D97-AF65-F5344CB8AC3E}">
        <p14:creationId xmlns:p14="http://schemas.microsoft.com/office/powerpoint/2010/main" val="2191217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8D3A176-3355-4E74-A06D-2ADD6B09FB9A}" type="slidenum">
              <a:rPr lang="en-PK" smtClean="0"/>
              <a:t>4</a:t>
            </a:fld>
            <a:endParaRPr lang="en-PK"/>
          </a:p>
        </p:txBody>
      </p:sp>
    </p:spTree>
    <p:extLst>
      <p:ext uri="{BB962C8B-B14F-4D97-AF65-F5344CB8AC3E}">
        <p14:creationId xmlns:p14="http://schemas.microsoft.com/office/powerpoint/2010/main" val="129298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8D3A176-3355-4E74-A06D-2ADD6B09FB9A}" type="slidenum">
              <a:rPr lang="en-PK" smtClean="0"/>
              <a:t>8</a:t>
            </a:fld>
            <a:endParaRPr lang="en-PK"/>
          </a:p>
        </p:txBody>
      </p:sp>
    </p:spTree>
    <p:extLst>
      <p:ext uri="{BB962C8B-B14F-4D97-AF65-F5344CB8AC3E}">
        <p14:creationId xmlns:p14="http://schemas.microsoft.com/office/powerpoint/2010/main" val="69148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D782-FA17-DA07-D577-5B86CD8DBE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98C31AFE-61E2-AAF3-8417-2E78C7626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E8B87CA-9C91-2BA8-0CF5-E96E60F4CB4A}"/>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5" name="Footer Placeholder 4">
            <a:extLst>
              <a:ext uri="{FF2B5EF4-FFF2-40B4-BE49-F238E27FC236}">
                <a16:creationId xmlns:a16="http://schemas.microsoft.com/office/drawing/2014/main" id="{A0C5211B-DAAC-16BF-C00B-E4D6CD4160D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CFF942-3A3B-0963-F02E-798BF3E1830A}"/>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802585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C41D1-A056-8A73-E97F-67D41A87449F}"/>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5A82DDA-D097-4C86-E43A-EE935B7A92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402248B-ADD6-FE47-5F07-BB91EAB65689}"/>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5" name="Footer Placeholder 4">
            <a:extLst>
              <a:ext uri="{FF2B5EF4-FFF2-40B4-BE49-F238E27FC236}">
                <a16:creationId xmlns:a16="http://schemas.microsoft.com/office/drawing/2014/main" id="{0C203ADC-F42E-75D4-4BEE-6609D35A761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75F7286-2376-A15B-E292-D99B314F130C}"/>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3185959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AC1E0-16EF-CE8B-5B0D-A0C51B1E1F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90A0417B-BBBD-6465-120D-70C64BBE6B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39C5A-D8D3-D56B-D55A-3CF4A74036D3}"/>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5" name="Footer Placeholder 4">
            <a:extLst>
              <a:ext uri="{FF2B5EF4-FFF2-40B4-BE49-F238E27FC236}">
                <a16:creationId xmlns:a16="http://schemas.microsoft.com/office/drawing/2014/main" id="{9C98E976-D287-7387-115E-2FE7733DF10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E249EE8-A6A7-93F0-BBAA-61AED4D900D3}"/>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100653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3CC3-8AAA-D7BA-B60C-BCC3EED7E85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38A9C95-477A-8E8B-0063-4421EDC8EF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165E4616-5916-B444-A014-010CBD1A15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C0EC9C8A-5F58-435E-D95E-12980A9E50CE}"/>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6" name="Footer Placeholder 5">
            <a:extLst>
              <a:ext uri="{FF2B5EF4-FFF2-40B4-BE49-F238E27FC236}">
                <a16:creationId xmlns:a16="http://schemas.microsoft.com/office/drawing/2014/main" id="{D4270792-8001-E22C-0EA2-3080EA57806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79DB282-C6E2-E252-4A7E-43BEB7E800CB}"/>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2198318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10F64-668C-9212-2D9F-2882126319D8}"/>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A597471-05FA-B35D-BD9D-1ECF1A4871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A6A7D9-C9FF-7C3C-71E9-C27FCB81AB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7916603E-4651-C8DC-29E5-14BA2F26E5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5314B6-EF1A-9B4E-5E23-C7A85030EA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B9FD01D7-2C74-A0B6-01ED-BB4C75777A5F}"/>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8" name="Footer Placeholder 7">
            <a:extLst>
              <a:ext uri="{FF2B5EF4-FFF2-40B4-BE49-F238E27FC236}">
                <a16:creationId xmlns:a16="http://schemas.microsoft.com/office/drawing/2014/main" id="{C254CABF-2B50-36CD-E5BA-FB36EAC434A5}"/>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85E74FCC-A938-64C6-B0A5-5E9CFD890621}"/>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513513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F229-AA1D-94FA-A785-ED80BCC9CF3B}"/>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B8B5E295-CBB3-23C1-9E1A-19BFC5EC36A1}"/>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4" name="Footer Placeholder 3">
            <a:extLst>
              <a:ext uri="{FF2B5EF4-FFF2-40B4-BE49-F238E27FC236}">
                <a16:creationId xmlns:a16="http://schemas.microsoft.com/office/drawing/2014/main" id="{BC3280FB-40A4-03BD-58A3-FFAD5D385C3A}"/>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881D984-BB7C-5988-3BD9-C1D6AB7587F0}"/>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136076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783904-7DD1-8D64-14E9-9EFD3D40325B}"/>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3" name="Footer Placeholder 2">
            <a:extLst>
              <a:ext uri="{FF2B5EF4-FFF2-40B4-BE49-F238E27FC236}">
                <a16:creationId xmlns:a16="http://schemas.microsoft.com/office/drawing/2014/main" id="{6AD5AC8A-C8D0-C780-7BF0-2759DF6043C7}"/>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A38DA2C-0B73-5671-8378-6491E24ED0A3}"/>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3967349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8FD6F-6706-67CE-CAD1-5E82E5348C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0241132-45BF-17AF-02F9-25F818B5D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6CF4E199-7599-DBCF-C1DA-1A9244294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1DC92D-E8F5-F08C-5ED9-88BA82238A33}"/>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6" name="Footer Placeholder 5">
            <a:extLst>
              <a:ext uri="{FF2B5EF4-FFF2-40B4-BE49-F238E27FC236}">
                <a16:creationId xmlns:a16="http://schemas.microsoft.com/office/drawing/2014/main" id="{85023EDB-5B66-D524-DABD-FF4278470E0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C42DC6E-37C5-BD41-5360-84D76AC9F4C9}"/>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691407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85DA-DCE1-5090-D402-9FA04B8920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573327FB-146F-4864-0631-46F02E824F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CB1C75A-7BD5-B7FD-F3E5-A92A0FBFF8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B91D1-EADA-8F54-56B7-7CE4B0A49741}"/>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6" name="Footer Placeholder 5">
            <a:extLst>
              <a:ext uri="{FF2B5EF4-FFF2-40B4-BE49-F238E27FC236}">
                <a16:creationId xmlns:a16="http://schemas.microsoft.com/office/drawing/2014/main" id="{AB2D3326-DBCE-CCDE-D95C-A64DE9BD7DF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4A54B2D-C999-C492-E23F-64294F9CC419}"/>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676965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881B-8679-D28F-F1F9-0EF4DFC420C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F0311FF-86C9-1767-87BD-D440AB9337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2FA42C1-7F23-2B5B-E554-0530DD569529}"/>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5" name="Footer Placeholder 4">
            <a:extLst>
              <a:ext uri="{FF2B5EF4-FFF2-40B4-BE49-F238E27FC236}">
                <a16:creationId xmlns:a16="http://schemas.microsoft.com/office/drawing/2014/main" id="{7060933F-A3AE-5D76-9E31-B106D6176CB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8BE8F00D-12B8-CB38-7974-48DD14155861}"/>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3725689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871E43-DA26-9AE3-CE44-F167498FD0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7732A52-9047-00EF-4E07-5F54D5D6C3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B2346EF-BF02-CD9D-9584-4C7D368A254F}"/>
              </a:ext>
            </a:extLst>
          </p:cNvPr>
          <p:cNvSpPr>
            <a:spLocks noGrp="1"/>
          </p:cNvSpPr>
          <p:nvPr>
            <p:ph type="dt" sz="half" idx="10"/>
          </p:nvPr>
        </p:nvSpPr>
        <p:spPr/>
        <p:txBody>
          <a:bodyPr/>
          <a:lstStyle/>
          <a:p>
            <a:fld id="{46766E9B-744B-44AA-9E79-E5CCB3CFDCCD}" type="datetimeFigureOut">
              <a:rPr lang="en-PK" smtClean="0"/>
              <a:t>10/11/2025</a:t>
            </a:fld>
            <a:endParaRPr lang="en-PK"/>
          </a:p>
        </p:txBody>
      </p:sp>
      <p:sp>
        <p:nvSpPr>
          <p:cNvPr id="5" name="Footer Placeholder 4">
            <a:extLst>
              <a:ext uri="{FF2B5EF4-FFF2-40B4-BE49-F238E27FC236}">
                <a16:creationId xmlns:a16="http://schemas.microsoft.com/office/drawing/2014/main" id="{409045C7-939D-91A6-0C37-1D0A8E8D636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59AC225-B291-F337-8080-97B944BB30A6}"/>
              </a:ext>
            </a:extLst>
          </p:cNvPr>
          <p:cNvSpPr>
            <a:spLocks noGrp="1"/>
          </p:cNvSpPr>
          <p:nvPr>
            <p:ph type="sldNum" sz="quarter" idx="12"/>
          </p:nvPr>
        </p:nvSpPr>
        <p:spPr/>
        <p:txBody>
          <a:bodyPr/>
          <a:lstStyle/>
          <a:p>
            <a:fld id="{4D4FCFCF-0474-490B-8466-9CF2E12BBF33}" type="slidenum">
              <a:rPr lang="en-PK" smtClean="0"/>
              <a:t>‹#›</a:t>
            </a:fld>
            <a:endParaRPr lang="en-PK"/>
          </a:p>
        </p:txBody>
      </p:sp>
    </p:spTree>
    <p:extLst>
      <p:ext uri="{BB962C8B-B14F-4D97-AF65-F5344CB8AC3E}">
        <p14:creationId xmlns:p14="http://schemas.microsoft.com/office/powerpoint/2010/main" val="418132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05F375-6DF0-ED45-B571-EEB1AAA8EB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D98A4EA-1802-D823-6087-F5B09F627A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7603AA0-AE88-EACA-82FE-73D8C518A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766E9B-744B-44AA-9E79-E5CCB3CFDCCD}" type="datetimeFigureOut">
              <a:rPr lang="en-PK" smtClean="0"/>
              <a:t>10/11/2025</a:t>
            </a:fld>
            <a:endParaRPr lang="en-PK"/>
          </a:p>
        </p:txBody>
      </p:sp>
      <p:sp>
        <p:nvSpPr>
          <p:cNvPr id="5" name="Footer Placeholder 4">
            <a:extLst>
              <a:ext uri="{FF2B5EF4-FFF2-40B4-BE49-F238E27FC236}">
                <a16:creationId xmlns:a16="http://schemas.microsoft.com/office/drawing/2014/main" id="{50ACF5A8-A52D-F535-161A-BA6BF7A64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CBED1415-0E5B-9ABC-F609-CA41C8322B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4FCFCF-0474-490B-8466-9CF2E12BBF33}" type="slidenum">
              <a:rPr lang="en-PK" smtClean="0"/>
              <a:t>‹#›</a:t>
            </a:fld>
            <a:endParaRPr lang="en-PK"/>
          </a:p>
        </p:txBody>
      </p:sp>
    </p:spTree>
    <p:extLst>
      <p:ext uri="{BB962C8B-B14F-4D97-AF65-F5344CB8AC3E}">
        <p14:creationId xmlns:p14="http://schemas.microsoft.com/office/powerpoint/2010/main" val="1787499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in/husnainzahoor/"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Financial graphs on a dark display">
            <a:extLst>
              <a:ext uri="{FF2B5EF4-FFF2-40B4-BE49-F238E27FC236}">
                <a16:creationId xmlns:a16="http://schemas.microsoft.com/office/drawing/2014/main" id="{DB5F37B8-0EB7-AA2D-1382-50D55A441F07}"/>
              </a:ext>
            </a:extLst>
          </p:cNvPr>
          <p:cNvPicPr>
            <a:picLocks noChangeAspect="1"/>
          </p:cNvPicPr>
          <p:nvPr/>
        </p:nvPicPr>
        <p:blipFill>
          <a:blip r:embed="rId2">
            <a:alphaModFix/>
          </a:blip>
          <a:srcRect l="11316" r="16614"/>
          <a:stretch>
            <a:fillRect/>
          </a:stretch>
        </p:blipFill>
        <p:spPr>
          <a:xfrm>
            <a:off x="4283902" y="10"/>
            <a:ext cx="7908098" cy="6857992"/>
          </a:xfrm>
          <a:prstGeom prst="rect">
            <a:avLst/>
          </a:prstGeom>
        </p:spPr>
      </p:pic>
      <p:sp>
        <p:nvSpPr>
          <p:cNvPr id="38" name="Rectangle 37">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8F347E-F49D-9A6F-45B3-837FC08EA7F7}"/>
              </a:ext>
            </a:extLst>
          </p:cNvPr>
          <p:cNvSpPr>
            <a:spLocks noGrp="1"/>
          </p:cNvSpPr>
          <p:nvPr>
            <p:ph type="ctrTitle"/>
          </p:nvPr>
        </p:nvSpPr>
        <p:spPr>
          <a:xfrm>
            <a:off x="728663" y="1115219"/>
            <a:ext cx="5505449" cy="2387600"/>
          </a:xfrm>
        </p:spPr>
        <p:txBody>
          <a:bodyPr vert="horz" lIns="91440" tIns="45720" rIns="91440" bIns="45720" rtlCol="0" anchor="b">
            <a:normAutofit/>
          </a:bodyPr>
          <a:lstStyle/>
          <a:p>
            <a:pPr algn="l"/>
            <a:r>
              <a:rPr lang="en-US" sz="3600" dirty="0">
                <a:solidFill>
                  <a:schemeClr val="bg1"/>
                </a:solidFill>
              </a:rPr>
              <a:t>Walmart Sales Performance Analysis.</a:t>
            </a:r>
            <a:br>
              <a:rPr lang="en-US" sz="2400" dirty="0">
                <a:solidFill>
                  <a:schemeClr val="bg1"/>
                </a:solidFill>
              </a:rPr>
            </a:br>
            <a:br>
              <a:rPr lang="en-US" sz="2400" dirty="0">
                <a:solidFill>
                  <a:schemeClr val="bg1"/>
                </a:solidFill>
              </a:rPr>
            </a:br>
            <a:r>
              <a:rPr lang="en-US" sz="2000" dirty="0">
                <a:solidFill>
                  <a:schemeClr val="bg1"/>
                </a:solidFill>
              </a:rPr>
              <a:t>Improvement of Walmart sales performance in the Upcoming Year for maximized revenue.</a:t>
            </a:r>
            <a:endParaRPr lang="en-US" sz="2400" dirty="0">
              <a:solidFill>
                <a:schemeClr val="bg1"/>
              </a:solidFill>
            </a:endParaRPr>
          </a:p>
        </p:txBody>
      </p:sp>
      <p:sp>
        <p:nvSpPr>
          <p:cNvPr id="5" name="Title 1">
            <a:extLst>
              <a:ext uri="{FF2B5EF4-FFF2-40B4-BE49-F238E27FC236}">
                <a16:creationId xmlns:a16="http://schemas.microsoft.com/office/drawing/2014/main" id="{0F9659F0-D248-37B5-B0B9-E6ED59DD658F}"/>
              </a:ext>
            </a:extLst>
          </p:cNvPr>
          <p:cNvSpPr txBox="1">
            <a:spLocks/>
          </p:cNvSpPr>
          <p:nvPr/>
        </p:nvSpPr>
        <p:spPr>
          <a:xfrm>
            <a:off x="728663" y="3902075"/>
            <a:ext cx="5505449" cy="620764"/>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1000"/>
              </a:spcBef>
            </a:pPr>
            <a:r>
              <a:rPr lang="en-US" sz="1800" b="1" dirty="0">
                <a:solidFill>
                  <a:schemeClr val="bg1"/>
                </a:solidFill>
                <a:latin typeface="+mn-lt"/>
                <a:ea typeface="+mn-ea"/>
                <a:cs typeface="+mn-cs"/>
              </a:rPr>
              <a:t>Prepared by:</a:t>
            </a:r>
            <a:r>
              <a:rPr lang="en-US" sz="1800" dirty="0">
                <a:solidFill>
                  <a:schemeClr val="bg1"/>
                </a:solidFill>
                <a:latin typeface="+mn-lt"/>
                <a:ea typeface="+mn-ea"/>
                <a:cs typeface="+mn-cs"/>
              </a:rPr>
              <a:t> husnain zahoor</a:t>
            </a:r>
          </a:p>
        </p:txBody>
      </p:sp>
      <p:cxnSp>
        <p:nvCxnSpPr>
          <p:cNvPr id="40" name="Straight Connector 39">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128A192D-6462-3E3A-4333-771F42ED4ABB}"/>
              </a:ext>
            </a:extLst>
          </p:cNvPr>
          <p:cNvSpPr txBox="1">
            <a:spLocks/>
          </p:cNvSpPr>
          <p:nvPr/>
        </p:nvSpPr>
        <p:spPr>
          <a:xfrm>
            <a:off x="5314949" y="3532741"/>
            <a:ext cx="6124576" cy="266550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PK" sz="24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351470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1000"/>
                                  </p:stCondLst>
                                  <p:endCondLst>
                                    <p:cond evt="begin" delay="0">
                                      <p:tn val="8"/>
                                    </p:cond>
                                  </p:endCondLst>
                                  <p:iterate type="lt">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grpId="0" nodeType="withEffect">
                                  <p:stCondLst>
                                    <p:cond delay="1000"/>
                                  </p:stCondLst>
                                  <p:iterate type="lt">
                                    <p:tmPct val="10000"/>
                                  </p:iterate>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2" name="Title 1">
            <a:extLst>
              <a:ext uri="{FF2B5EF4-FFF2-40B4-BE49-F238E27FC236}">
                <a16:creationId xmlns:a16="http://schemas.microsoft.com/office/drawing/2014/main" id="{F918063F-034E-2E95-B75E-D67A58A9F855}"/>
              </a:ext>
            </a:extLst>
          </p:cNvPr>
          <p:cNvSpPr>
            <a:spLocks noGrp="1"/>
          </p:cNvSpPr>
          <p:nvPr>
            <p:ph type="title"/>
          </p:nvPr>
        </p:nvSpPr>
        <p:spPr>
          <a:xfrm>
            <a:off x="1942735" y="1932443"/>
            <a:ext cx="8071706" cy="2387600"/>
          </a:xfrm>
        </p:spPr>
        <p:txBody>
          <a:bodyPr vert="horz" lIns="91440" tIns="45720" rIns="91440" bIns="45720" rtlCol="0" anchor="b">
            <a:normAutofit/>
          </a:bodyPr>
          <a:lstStyle/>
          <a:p>
            <a:r>
              <a:rPr lang="en-US" sz="4000" b="1" kern="1200" dirty="0">
                <a:solidFill>
                  <a:schemeClr val="bg1"/>
                </a:solidFill>
                <a:latin typeface="+mj-lt"/>
                <a:ea typeface="+mj-ea"/>
                <a:cs typeface="+mj-cs"/>
              </a:rPr>
              <a:t>CEO Question:</a:t>
            </a:r>
            <a:br>
              <a:rPr lang="en-US" sz="4000" b="1" kern="1200" dirty="0">
                <a:solidFill>
                  <a:schemeClr val="bg1"/>
                </a:solidFill>
                <a:latin typeface="+mj-lt"/>
                <a:ea typeface="+mj-ea"/>
                <a:cs typeface="+mj-cs"/>
              </a:rPr>
            </a:br>
            <a:r>
              <a:rPr lang="en-US" sz="4000" kern="1200" dirty="0">
                <a:solidFill>
                  <a:schemeClr val="bg1"/>
                </a:solidFill>
                <a:latin typeface="+mj-lt"/>
                <a:ea typeface="+mj-ea"/>
                <a:cs typeface="+mj-cs"/>
              </a:rPr>
              <a:t>“How can Walmart improve sales performance in the upcoming year?”</a:t>
            </a:r>
            <a:br>
              <a:rPr lang="en-US" sz="4000" kern="1200" dirty="0">
                <a:solidFill>
                  <a:schemeClr val="bg1"/>
                </a:solidFill>
                <a:latin typeface="+mj-lt"/>
                <a:ea typeface="+mj-ea"/>
                <a:cs typeface="+mj-cs"/>
              </a:rPr>
            </a:br>
            <a:endParaRPr lang="en-US" sz="4000" b="1" kern="1200" dirty="0">
              <a:solidFill>
                <a:schemeClr val="bg1"/>
              </a:solidFill>
              <a:latin typeface="+mj-lt"/>
              <a:ea typeface="+mj-ea"/>
              <a:cs typeface="+mj-cs"/>
            </a:endParaRPr>
          </a:p>
        </p:txBody>
      </p:sp>
      <p:cxnSp>
        <p:nvCxnSpPr>
          <p:cNvPr id="42" name="Straight Connector 41">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245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37FBCF-2DAC-8943-A62C-95A0680E7F01}"/>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bstract blurred background of department store">
            <a:extLst>
              <a:ext uri="{FF2B5EF4-FFF2-40B4-BE49-F238E27FC236}">
                <a16:creationId xmlns:a16="http://schemas.microsoft.com/office/drawing/2014/main" id="{A617136A-16BB-50AE-8DE5-91833F242A0C}"/>
              </a:ext>
            </a:extLst>
          </p:cNvPr>
          <p:cNvPicPr>
            <a:picLocks noChangeAspect="1"/>
          </p:cNvPicPr>
          <p:nvPr/>
        </p:nvPicPr>
        <p:blipFill>
          <a:blip r:embed="rId2">
            <a:alphaModFix amt="50000"/>
          </a:blip>
          <a:srcRect r="-1" b="15708"/>
          <a:stretch>
            <a:fillRect/>
          </a:stretch>
        </p:blipFill>
        <p:spPr>
          <a:xfrm>
            <a:off x="20" y="10"/>
            <a:ext cx="12188931" cy="6857990"/>
          </a:xfrm>
          <a:prstGeom prst="rect">
            <a:avLst/>
          </a:prstGeom>
        </p:spPr>
      </p:pic>
      <p:sp>
        <p:nvSpPr>
          <p:cNvPr id="2" name="Title 1">
            <a:extLst>
              <a:ext uri="{FF2B5EF4-FFF2-40B4-BE49-F238E27FC236}">
                <a16:creationId xmlns:a16="http://schemas.microsoft.com/office/drawing/2014/main" id="{AA4FF61B-5706-79EF-3856-952E4D6A0CFE}"/>
              </a:ext>
            </a:extLst>
          </p:cNvPr>
          <p:cNvSpPr>
            <a:spLocks noGrp="1"/>
          </p:cNvSpPr>
          <p:nvPr>
            <p:ph type="title"/>
          </p:nvPr>
        </p:nvSpPr>
        <p:spPr>
          <a:xfrm>
            <a:off x="1527048" y="1124712"/>
            <a:ext cx="9144000" cy="3063240"/>
          </a:xfrm>
        </p:spPr>
        <p:txBody>
          <a:bodyPr vert="horz" lIns="91440" tIns="45720" rIns="91440" bIns="45720" rtlCol="0" anchor="b">
            <a:normAutofit/>
          </a:bodyPr>
          <a:lstStyle/>
          <a:p>
            <a:pPr marL="342900" indent="-342900"/>
            <a:r>
              <a:rPr lang="en-US" sz="2400" b="1" dirty="0">
                <a:solidFill>
                  <a:schemeClr val="bg1"/>
                </a:solidFill>
              </a:rPr>
              <a:t>Key Questions for Stakeholder Discussion:</a:t>
            </a:r>
            <a:br>
              <a:rPr lang="en-US" sz="1800" dirty="0">
                <a:solidFill>
                  <a:schemeClr val="bg1"/>
                </a:solidFill>
              </a:rPr>
            </a:br>
            <a:br>
              <a:rPr lang="en-US" sz="1800" dirty="0">
                <a:solidFill>
                  <a:schemeClr val="bg1"/>
                </a:solidFill>
              </a:rPr>
            </a:br>
            <a:r>
              <a:rPr lang="en-US" sz="1800" dirty="0">
                <a:solidFill>
                  <a:schemeClr val="bg1"/>
                </a:solidFill>
              </a:rPr>
              <a:t>What is the impact of holidays on sales?</a:t>
            </a:r>
            <a:br>
              <a:rPr lang="en-US" sz="1800" dirty="0">
                <a:solidFill>
                  <a:schemeClr val="bg1"/>
                </a:solidFill>
              </a:rPr>
            </a:br>
            <a:br>
              <a:rPr lang="en-US" sz="1800" dirty="0">
                <a:solidFill>
                  <a:schemeClr val="bg1"/>
                </a:solidFill>
              </a:rPr>
            </a:br>
            <a:r>
              <a:rPr lang="en-US" sz="1800" dirty="0">
                <a:solidFill>
                  <a:schemeClr val="bg1"/>
                </a:solidFill>
              </a:rPr>
              <a:t>Is there a relationship between stores and the highest sales performance?</a:t>
            </a:r>
            <a:br>
              <a:rPr lang="en-US" sz="1800" dirty="0">
                <a:solidFill>
                  <a:schemeClr val="bg1"/>
                </a:solidFill>
              </a:rPr>
            </a:br>
            <a:br>
              <a:rPr lang="en-US" sz="1800" dirty="0">
                <a:solidFill>
                  <a:schemeClr val="bg1"/>
                </a:solidFill>
              </a:rPr>
            </a:br>
            <a:r>
              <a:rPr lang="en-US" sz="1800" dirty="0">
                <a:solidFill>
                  <a:schemeClr val="bg1"/>
                </a:solidFill>
              </a:rPr>
              <a:t>Does store type matter in terms of generating the highest sales?</a:t>
            </a:r>
            <a:br>
              <a:rPr lang="en-US" sz="1800" dirty="0">
                <a:solidFill>
                  <a:schemeClr val="bg1"/>
                </a:solidFill>
              </a:rPr>
            </a:br>
            <a:br>
              <a:rPr lang="en-US" sz="1800" dirty="0">
                <a:solidFill>
                  <a:schemeClr val="bg1"/>
                </a:solidFill>
              </a:rPr>
            </a:br>
            <a:r>
              <a:rPr lang="en-US" sz="1800" dirty="0">
                <a:solidFill>
                  <a:schemeClr val="bg1"/>
                </a:solidFill>
              </a:rPr>
              <a:t>What is the impact of external factors such as unemployment and fuel prices on sales?</a:t>
            </a:r>
            <a:br>
              <a:rPr lang="en-US" sz="1800" dirty="0">
                <a:solidFill>
                  <a:schemeClr val="bg1"/>
                </a:solidFill>
              </a:rPr>
            </a:br>
            <a:r>
              <a:rPr lang="en-US" sz="1800" dirty="0">
                <a:solidFill>
                  <a:schemeClr val="bg1"/>
                </a:solidFill>
              </a:rPr>
              <a:t>Do sales fluctuate because of these factors?</a:t>
            </a:r>
          </a:p>
        </p:txBody>
      </p:sp>
      <p:sp>
        <p:nvSpPr>
          <p:cNvPr id="39"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594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CF1934-BFBC-DAF3-D7AE-70C9229C8FC9}"/>
              </a:ext>
            </a:extLst>
          </p:cNvPr>
          <p:cNvSpPr>
            <a:spLocks noGrp="1"/>
          </p:cNvSpPr>
          <p:nvPr>
            <p:ph type="title"/>
          </p:nvPr>
        </p:nvSpPr>
        <p:spPr>
          <a:xfrm>
            <a:off x="835024" y="1228932"/>
            <a:ext cx="4391024" cy="1323439"/>
          </a:xfrm>
        </p:spPr>
        <p:txBody>
          <a:bodyPr anchor="t">
            <a:normAutofit/>
          </a:bodyPr>
          <a:lstStyle/>
          <a:p>
            <a:r>
              <a:rPr lang="en-US" sz="3700" b="1" dirty="0">
                <a:solidFill>
                  <a:schemeClr val="bg1"/>
                </a:solidFill>
              </a:rPr>
              <a:t>1. Impact of holidays on Weekly Sales:</a:t>
            </a:r>
            <a:endParaRPr lang="en-PK" sz="3700" b="1" dirty="0">
              <a:solidFill>
                <a:schemeClr val="bg1"/>
              </a:solidFill>
            </a:endParaRPr>
          </a:p>
        </p:txBody>
      </p:sp>
      <p:sp>
        <p:nvSpPr>
          <p:cNvPr id="3" name="Content Placeholder 2">
            <a:extLst>
              <a:ext uri="{FF2B5EF4-FFF2-40B4-BE49-F238E27FC236}">
                <a16:creationId xmlns:a16="http://schemas.microsoft.com/office/drawing/2014/main" id="{3CF90B00-0603-3D2B-E15F-1C055A6A8655}"/>
              </a:ext>
            </a:extLst>
          </p:cNvPr>
          <p:cNvSpPr>
            <a:spLocks noGrp="1"/>
          </p:cNvSpPr>
          <p:nvPr>
            <p:ph idx="1"/>
          </p:nvPr>
        </p:nvSpPr>
        <p:spPr>
          <a:xfrm>
            <a:off x="512666" y="2552371"/>
            <a:ext cx="5260975" cy="2291269"/>
          </a:xfrm>
        </p:spPr>
        <p:txBody>
          <a:bodyPr>
            <a:normAutofit/>
          </a:bodyPr>
          <a:lstStyle/>
          <a:p>
            <a:r>
              <a:rPr lang="en-PK" sz="1600" b="1" dirty="0">
                <a:solidFill>
                  <a:schemeClr val="bg1"/>
                </a:solidFill>
              </a:rPr>
              <a:t>Holiday Impact:</a:t>
            </a:r>
            <a:r>
              <a:rPr lang="en-PK" sz="1600" dirty="0">
                <a:solidFill>
                  <a:schemeClr val="bg1"/>
                </a:solidFill>
              </a:rPr>
              <a:t> Sales are generally stronger during non-holiday periods; holidays do not significantly boost performance.</a:t>
            </a:r>
          </a:p>
          <a:p>
            <a:r>
              <a:rPr lang="en-PK" sz="1600" b="1" dirty="0">
                <a:solidFill>
                  <a:schemeClr val="bg1"/>
                </a:solidFill>
              </a:rPr>
              <a:t>Top Performer:</a:t>
            </a:r>
            <a:r>
              <a:rPr lang="en-PK" sz="1600" dirty="0">
                <a:solidFill>
                  <a:schemeClr val="bg1"/>
                </a:solidFill>
              </a:rPr>
              <a:t> </a:t>
            </a:r>
            <a:r>
              <a:rPr lang="en-PK" sz="1600" b="1" dirty="0">
                <a:solidFill>
                  <a:schemeClr val="bg1"/>
                </a:solidFill>
              </a:rPr>
              <a:t>Store 10 – Dept 7</a:t>
            </a:r>
            <a:r>
              <a:rPr lang="en-PK" sz="1600" dirty="0">
                <a:solidFill>
                  <a:schemeClr val="bg1"/>
                </a:solidFill>
              </a:rPr>
              <a:t> drives the highest weekly sales.</a:t>
            </a:r>
          </a:p>
          <a:p>
            <a:r>
              <a:rPr lang="en-PK" sz="1600" b="1" dirty="0">
                <a:solidFill>
                  <a:schemeClr val="bg1"/>
                </a:solidFill>
              </a:rPr>
              <a:t>Customer Behaviour:</a:t>
            </a:r>
            <a:r>
              <a:rPr lang="en-PK" sz="1600" dirty="0">
                <a:solidFill>
                  <a:schemeClr val="bg1"/>
                </a:solidFill>
              </a:rPr>
              <a:t> Sales dip during holidays as customers tend to shop earlier (e.g., before holiday weekends).</a:t>
            </a:r>
          </a:p>
          <a:p>
            <a:pPr marL="0" indent="0">
              <a:buNone/>
            </a:pPr>
            <a:endParaRPr lang="en-PK" sz="1600" dirty="0">
              <a:solidFill>
                <a:schemeClr val="bg1"/>
              </a:solidFill>
            </a:endParaRP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77" name="Group 76">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78" name="Group 77">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82" name="Freeform: Shape 81">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9" name="Group 78">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80" name="Freeform: Shape 79">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aphicFrame>
        <p:nvGraphicFramePr>
          <p:cNvPr id="9" name="Chart 8">
            <a:extLst>
              <a:ext uri="{FF2B5EF4-FFF2-40B4-BE49-F238E27FC236}">
                <a16:creationId xmlns:a16="http://schemas.microsoft.com/office/drawing/2014/main" id="{B36BCDAD-145C-02EF-7D70-CD4FEB42E2CF}"/>
              </a:ext>
            </a:extLst>
          </p:cNvPr>
          <p:cNvGraphicFramePr>
            <a:graphicFrameLocks/>
          </p:cNvGraphicFramePr>
          <p:nvPr>
            <p:extLst>
              <p:ext uri="{D42A27DB-BD31-4B8C-83A1-F6EECF244321}">
                <p14:modId xmlns:p14="http://schemas.microsoft.com/office/powerpoint/2010/main" val="3361411740"/>
              </p:ext>
            </p:extLst>
          </p:nvPr>
        </p:nvGraphicFramePr>
        <p:xfrm>
          <a:off x="6541932" y="1350833"/>
          <a:ext cx="4369112" cy="306334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8372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42E7AB-B0F3-B3ED-4A8D-C16BAAAC9C97}"/>
            </a:ext>
          </a:extLst>
        </p:cNvPr>
        <p:cNvGrpSpPr/>
        <p:nvPr/>
      </p:nvGrpSpPr>
      <p:grpSpPr>
        <a:xfrm>
          <a:off x="0" y="0"/>
          <a:ext cx="0" cy="0"/>
          <a:chOff x="0" y="0"/>
          <a:chExt cx="0" cy="0"/>
        </a:xfrm>
      </p:grpSpPr>
      <p:pic>
        <p:nvPicPr>
          <p:cNvPr id="57" name="Picture 56" descr="Abstract blurred background of department store">
            <a:extLst>
              <a:ext uri="{FF2B5EF4-FFF2-40B4-BE49-F238E27FC236}">
                <a16:creationId xmlns:a16="http://schemas.microsoft.com/office/drawing/2014/main" id="{8C8DCFDE-6325-2957-C57E-6E6082502396}"/>
              </a:ext>
            </a:extLst>
          </p:cNvPr>
          <p:cNvPicPr>
            <a:picLocks noChangeAspect="1"/>
          </p:cNvPicPr>
          <p:nvPr/>
        </p:nvPicPr>
        <p:blipFill>
          <a:blip r:embed="rId2"/>
          <a:srcRect b="15730"/>
          <a:stretch>
            <a:fillRect/>
          </a:stretch>
        </p:blipFill>
        <p:spPr>
          <a:xfrm>
            <a:off x="20" y="10"/>
            <a:ext cx="12191980" cy="6857990"/>
          </a:xfrm>
          <a:prstGeom prst="rect">
            <a:avLst/>
          </a:prstGeom>
        </p:spPr>
      </p:pic>
      <p:sp>
        <p:nvSpPr>
          <p:cNvPr id="101" name="Rectangle 10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A8AA61B5-3999-67AD-6D61-08BFEED9A4BC}"/>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b="1" dirty="0">
                <a:solidFill>
                  <a:schemeClr val="tx1">
                    <a:lumMod val="85000"/>
                    <a:lumOff val="15000"/>
                  </a:schemeClr>
                </a:solidFill>
              </a:rPr>
              <a:t>Top &amp; Bottom Stores W.R.T Sales Performance:</a:t>
            </a:r>
          </a:p>
        </p:txBody>
      </p:sp>
      <p:cxnSp>
        <p:nvCxnSpPr>
          <p:cNvPr id="103" name="Straight Connector 10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4" name="Chart 13">
            <a:extLst>
              <a:ext uri="{FF2B5EF4-FFF2-40B4-BE49-F238E27FC236}">
                <a16:creationId xmlns:a16="http://schemas.microsoft.com/office/drawing/2014/main" id="{15CBF050-F40F-4D64-707A-C1840C9BBA81}"/>
              </a:ext>
            </a:extLst>
          </p:cNvPr>
          <p:cNvGraphicFramePr>
            <a:graphicFrameLocks/>
          </p:cNvGraphicFramePr>
          <p:nvPr>
            <p:extLst>
              <p:ext uri="{D42A27DB-BD31-4B8C-83A1-F6EECF244321}">
                <p14:modId xmlns:p14="http://schemas.microsoft.com/office/powerpoint/2010/main" val="66743661"/>
              </p:ext>
            </p:extLst>
          </p:nvPr>
        </p:nvGraphicFramePr>
        <p:xfrm>
          <a:off x="248757" y="723147"/>
          <a:ext cx="5760000" cy="396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E3B32888-F5A3-B2E6-0D31-DB5E6D4B9665}"/>
              </a:ext>
            </a:extLst>
          </p:cNvPr>
          <p:cNvGraphicFramePr>
            <a:graphicFrameLocks/>
          </p:cNvGraphicFramePr>
          <p:nvPr>
            <p:extLst>
              <p:ext uri="{D42A27DB-BD31-4B8C-83A1-F6EECF244321}">
                <p14:modId xmlns:p14="http://schemas.microsoft.com/office/powerpoint/2010/main" val="443536610"/>
              </p:ext>
            </p:extLst>
          </p:nvPr>
        </p:nvGraphicFramePr>
        <p:xfrm>
          <a:off x="6203064" y="723147"/>
          <a:ext cx="5760000" cy="396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093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BEBCD4-4516-98D2-35D6-762878BDA5AE}"/>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5DA0B794-A50A-48BF-90A0-2213B15C41D7}"/>
              </a:ext>
            </a:extLst>
          </p:cNvPr>
          <p:cNvSpPr>
            <a:spLocks noGrp="1"/>
          </p:cNvSpPr>
          <p:nvPr>
            <p:ph type="title"/>
          </p:nvPr>
        </p:nvSpPr>
        <p:spPr>
          <a:xfrm>
            <a:off x="838200" y="448721"/>
            <a:ext cx="4707671" cy="1225650"/>
          </a:xfrm>
        </p:spPr>
        <p:txBody>
          <a:bodyPr anchor="b">
            <a:normAutofit/>
          </a:bodyPr>
          <a:lstStyle/>
          <a:p>
            <a:r>
              <a:rPr lang="en-US" sz="3800" b="1">
                <a:solidFill>
                  <a:schemeClr val="bg1"/>
                </a:solidFill>
              </a:rPr>
              <a:t>1. Impact of holidays on Weekly Sales:</a:t>
            </a:r>
            <a:endParaRPr lang="en-PK" sz="3800" b="1">
              <a:solidFill>
                <a:schemeClr val="bg1"/>
              </a:solidFill>
            </a:endParaRPr>
          </a:p>
        </p:txBody>
      </p:sp>
      <p:cxnSp>
        <p:nvCxnSpPr>
          <p:cNvPr id="60" name="Straight Connector 59">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90850F5-8856-1DC8-840D-61791DD43D3D}"/>
              </a:ext>
            </a:extLst>
          </p:cNvPr>
          <p:cNvSpPr>
            <a:spLocks noGrp="1"/>
          </p:cNvSpPr>
          <p:nvPr>
            <p:ph idx="1"/>
          </p:nvPr>
        </p:nvSpPr>
        <p:spPr>
          <a:xfrm>
            <a:off x="897769" y="1909192"/>
            <a:ext cx="4586513" cy="3647710"/>
          </a:xfrm>
        </p:spPr>
        <p:txBody>
          <a:bodyPr>
            <a:normAutofit/>
          </a:bodyPr>
          <a:lstStyle/>
          <a:p>
            <a:r>
              <a:rPr lang="en-PK" sz="2000" b="1">
                <a:solidFill>
                  <a:schemeClr val="bg1"/>
                </a:solidFill>
              </a:rPr>
              <a:t> 2022: </a:t>
            </a:r>
            <a:r>
              <a:rPr lang="en-PK" sz="2000">
                <a:solidFill>
                  <a:schemeClr val="bg1"/>
                </a:solidFill>
              </a:rPr>
              <a:t>Highest sales performance.</a:t>
            </a:r>
          </a:p>
          <a:p>
            <a:r>
              <a:rPr lang="en-PK" sz="2000" b="1">
                <a:solidFill>
                  <a:schemeClr val="bg1"/>
                </a:solidFill>
              </a:rPr>
              <a:t>2023: </a:t>
            </a:r>
            <a:r>
              <a:rPr lang="en-PK" sz="2000">
                <a:solidFill>
                  <a:schemeClr val="bg1"/>
                </a:solidFill>
              </a:rPr>
              <a:t>Noticeable decline vs. 2022.</a:t>
            </a:r>
          </a:p>
          <a:p>
            <a:r>
              <a:rPr lang="en-PK" sz="2000" b="1">
                <a:solidFill>
                  <a:schemeClr val="bg1"/>
                </a:solidFill>
              </a:rPr>
              <a:t>2024: </a:t>
            </a:r>
            <a:r>
              <a:rPr lang="en-PK" sz="2000">
                <a:solidFill>
                  <a:schemeClr val="bg1"/>
                </a:solidFill>
              </a:rPr>
              <a:t>Lowest results (only two months of data available).</a:t>
            </a:r>
          </a:p>
          <a:p>
            <a:r>
              <a:rPr lang="en-PK" sz="2000" b="1">
                <a:solidFill>
                  <a:schemeClr val="bg1"/>
                </a:solidFill>
              </a:rPr>
              <a:t>Next Steps: </a:t>
            </a:r>
            <a:r>
              <a:rPr lang="en-PK" sz="2000">
                <a:solidFill>
                  <a:schemeClr val="bg1"/>
                </a:solidFill>
              </a:rPr>
              <a:t>Investigate 2024 drop and define strategies to boost sales in upcoming months.</a:t>
            </a:r>
          </a:p>
          <a:p>
            <a:pPr marL="0" indent="0">
              <a:buNone/>
            </a:pPr>
            <a:endParaRPr lang="en-PK" sz="2000">
              <a:solidFill>
                <a:schemeClr val="bg1"/>
              </a:solidFill>
            </a:endParaRPr>
          </a:p>
        </p:txBody>
      </p:sp>
      <p:cxnSp>
        <p:nvCxnSpPr>
          <p:cNvPr id="61" name="Straight Connector 60">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4" name="Picture 43" descr="Graph">
            <a:extLst>
              <a:ext uri="{FF2B5EF4-FFF2-40B4-BE49-F238E27FC236}">
                <a16:creationId xmlns:a16="http://schemas.microsoft.com/office/drawing/2014/main" id="{366D9E75-B5CD-B8E2-BD7A-7DFDDA2A6103}"/>
              </a:ext>
            </a:extLst>
          </p:cNvPr>
          <p:cNvPicPr>
            <a:picLocks noChangeAspect="1"/>
          </p:cNvPicPr>
          <p:nvPr/>
        </p:nvPicPr>
        <p:blipFill>
          <a:blip r:embed="rId2"/>
          <a:srcRect l="16096" r="32262"/>
          <a:stretch>
            <a:fillRect/>
          </a:stretch>
        </p:blipFill>
        <p:spPr>
          <a:xfrm>
            <a:off x="6525453" y="10"/>
            <a:ext cx="5666547" cy="6857990"/>
          </a:xfrm>
          <a:prstGeom prst="rect">
            <a:avLst/>
          </a:prstGeom>
        </p:spPr>
      </p:pic>
    </p:spTree>
    <p:extLst>
      <p:ext uri="{BB962C8B-B14F-4D97-AF65-F5344CB8AC3E}">
        <p14:creationId xmlns:p14="http://schemas.microsoft.com/office/powerpoint/2010/main" val="3558426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E7EEDC-8BF5-230C-03F8-A1FE34C45734}"/>
            </a:ext>
          </a:extLst>
        </p:cNvPr>
        <p:cNvGrpSpPr/>
        <p:nvPr/>
      </p:nvGrpSpPr>
      <p:grpSpPr>
        <a:xfrm>
          <a:off x="0" y="0"/>
          <a:ext cx="0" cy="0"/>
          <a:chOff x="0" y="0"/>
          <a:chExt cx="0" cy="0"/>
        </a:xfrm>
      </p:grpSpPr>
      <p:sp>
        <p:nvSpPr>
          <p:cNvPr id="4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stract blurred background of department store">
            <a:extLst>
              <a:ext uri="{FF2B5EF4-FFF2-40B4-BE49-F238E27FC236}">
                <a16:creationId xmlns:a16="http://schemas.microsoft.com/office/drawing/2014/main" id="{73E60D7D-D3CF-8B24-BA9D-09225D3E8275}"/>
              </a:ext>
            </a:extLst>
          </p:cNvPr>
          <p:cNvPicPr>
            <a:picLocks noChangeAspect="1"/>
          </p:cNvPicPr>
          <p:nvPr/>
        </p:nvPicPr>
        <p:blipFill>
          <a:blip r:embed="rId2">
            <a:alphaModFix amt="40000"/>
          </a:blip>
          <a:srcRect b="15730"/>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A3196BA9-811E-C8EE-473D-A62C025C9A42}"/>
              </a:ext>
            </a:extLst>
          </p:cNvPr>
          <p:cNvSpPr>
            <a:spLocks noGrp="1"/>
          </p:cNvSpPr>
          <p:nvPr>
            <p:ph type="title"/>
          </p:nvPr>
        </p:nvSpPr>
        <p:spPr>
          <a:xfrm>
            <a:off x="841249" y="941832"/>
            <a:ext cx="10506456" cy="2057400"/>
          </a:xfrm>
        </p:spPr>
        <p:txBody>
          <a:bodyPr anchor="b">
            <a:normAutofit/>
          </a:bodyPr>
          <a:lstStyle/>
          <a:p>
            <a:r>
              <a:rPr lang="en-US" sz="5000" b="1">
                <a:solidFill>
                  <a:schemeClr val="bg1"/>
                </a:solidFill>
              </a:rPr>
              <a:t>2. Impact of Stores, Store Size &amp; Dept on Weekly Sales:</a:t>
            </a:r>
            <a:endParaRPr lang="en-PK" sz="5000" b="1">
              <a:solidFill>
                <a:schemeClr val="bg1"/>
              </a:solidFill>
            </a:endParaRPr>
          </a:p>
        </p:txBody>
      </p:sp>
      <p:sp>
        <p:nvSpPr>
          <p:cNvPr id="41" name="Rectangle 4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2" name="Rectangle 4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DE87BF1-FCB3-EC0F-65A6-49C5DED3E6C7}"/>
              </a:ext>
            </a:extLst>
          </p:cNvPr>
          <p:cNvSpPr>
            <a:spLocks noGrp="1"/>
          </p:cNvSpPr>
          <p:nvPr>
            <p:ph idx="1"/>
          </p:nvPr>
        </p:nvSpPr>
        <p:spPr>
          <a:xfrm>
            <a:off x="841248" y="3502152"/>
            <a:ext cx="10506456" cy="2670048"/>
          </a:xfrm>
        </p:spPr>
        <p:txBody>
          <a:bodyPr>
            <a:normAutofit/>
          </a:bodyPr>
          <a:lstStyle/>
          <a:p>
            <a:r>
              <a:rPr lang="en-PK" sz="2000" b="1">
                <a:solidFill>
                  <a:schemeClr val="bg1"/>
                </a:solidFill>
              </a:rPr>
              <a:t>Top Performers: </a:t>
            </a:r>
            <a:r>
              <a:rPr lang="en-PK" sz="2000">
                <a:solidFill>
                  <a:schemeClr val="bg1"/>
                </a:solidFill>
              </a:rPr>
              <a:t>Store 10 leads in sales; Depts 7 &amp; 5 show strong, consistent results.</a:t>
            </a:r>
          </a:p>
          <a:p>
            <a:r>
              <a:rPr lang="en-PK" sz="2000" b="1">
                <a:solidFill>
                  <a:schemeClr val="bg1"/>
                </a:solidFill>
              </a:rPr>
              <a:t>Store Size Impact: </a:t>
            </a:r>
            <a:r>
              <a:rPr lang="en-PK" sz="2000">
                <a:solidFill>
                  <a:schemeClr val="bg1"/>
                </a:solidFill>
              </a:rPr>
              <a:t>Bigger stores ≠ higher sales; efficiency differs by location.</a:t>
            </a:r>
            <a:endParaRPr lang="en-US" sz="2000">
              <a:solidFill>
                <a:schemeClr val="bg1"/>
              </a:solidFill>
            </a:endParaRPr>
          </a:p>
          <a:p>
            <a:pPr marL="0" indent="0">
              <a:buNone/>
            </a:pPr>
            <a:endParaRPr lang="en-PK" sz="2000">
              <a:solidFill>
                <a:schemeClr val="bg1"/>
              </a:solidFill>
            </a:endParaRPr>
          </a:p>
          <a:p>
            <a:r>
              <a:rPr lang="en-PK" sz="2000" b="1">
                <a:solidFill>
                  <a:schemeClr val="bg1"/>
                </a:solidFill>
              </a:rPr>
              <a:t>Next Step: </a:t>
            </a:r>
            <a:r>
              <a:rPr lang="en-PK" sz="2000">
                <a:solidFill>
                  <a:schemeClr val="bg1"/>
                </a:solidFill>
              </a:rPr>
              <a:t>Analyze Sales per Sq. Ft. to assess space utilization.</a:t>
            </a:r>
          </a:p>
        </p:txBody>
      </p:sp>
    </p:spTree>
    <p:extLst>
      <p:ext uri="{BB962C8B-B14F-4D97-AF65-F5344CB8AC3E}">
        <p14:creationId xmlns:p14="http://schemas.microsoft.com/office/powerpoint/2010/main" val="3376097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732E27-3896-9346-0912-525672B7A8A0}"/>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BC5402-2E1F-842D-9442-66ADF8A9BE8D}"/>
              </a:ext>
            </a:extLst>
          </p:cNvPr>
          <p:cNvSpPr>
            <a:spLocks noGrp="1"/>
          </p:cNvSpPr>
          <p:nvPr>
            <p:ph type="title"/>
          </p:nvPr>
        </p:nvSpPr>
        <p:spPr>
          <a:xfrm>
            <a:off x="689085" y="1632154"/>
            <a:ext cx="4717827" cy="1319981"/>
          </a:xfrm>
        </p:spPr>
        <p:txBody>
          <a:bodyPr anchor="t">
            <a:normAutofit/>
          </a:bodyPr>
          <a:lstStyle/>
          <a:p>
            <a:r>
              <a:rPr lang="en-US" sz="3600" b="1" dirty="0">
                <a:solidFill>
                  <a:schemeClr val="bg1"/>
                </a:solidFill>
              </a:rPr>
              <a:t>3. Impact of Store Type on Weekly Sales:</a:t>
            </a:r>
            <a:endParaRPr lang="en-PK" sz="3600" b="1" dirty="0">
              <a:solidFill>
                <a:schemeClr val="bg1"/>
              </a:solidFill>
            </a:endParaRPr>
          </a:p>
        </p:txBody>
      </p:sp>
      <p:sp>
        <p:nvSpPr>
          <p:cNvPr id="3" name="Content Placeholder 2">
            <a:extLst>
              <a:ext uri="{FF2B5EF4-FFF2-40B4-BE49-F238E27FC236}">
                <a16:creationId xmlns:a16="http://schemas.microsoft.com/office/drawing/2014/main" id="{FCE738AA-B570-4B26-09F3-4A081B86937F}"/>
              </a:ext>
            </a:extLst>
          </p:cNvPr>
          <p:cNvSpPr>
            <a:spLocks noGrp="1"/>
          </p:cNvSpPr>
          <p:nvPr>
            <p:ph idx="1"/>
          </p:nvPr>
        </p:nvSpPr>
        <p:spPr>
          <a:xfrm>
            <a:off x="560614" y="3211800"/>
            <a:ext cx="4974771" cy="2023714"/>
          </a:xfrm>
        </p:spPr>
        <p:txBody>
          <a:bodyPr>
            <a:normAutofit/>
          </a:bodyPr>
          <a:lstStyle/>
          <a:p>
            <a:r>
              <a:rPr lang="en-PK" sz="1600" b="1" dirty="0">
                <a:solidFill>
                  <a:schemeClr val="bg1"/>
                </a:solidFill>
              </a:rPr>
              <a:t>Types A &amp; B drive the highest overall sales.</a:t>
            </a:r>
            <a:endParaRPr lang="en-PK" sz="1600" dirty="0">
              <a:solidFill>
                <a:schemeClr val="bg1"/>
              </a:solidFill>
            </a:endParaRPr>
          </a:p>
          <a:p>
            <a:r>
              <a:rPr lang="en-PK" sz="1600" b="1" dirty="0">
                <a:solidFill>
                  <a:schemeClr val="bg1"/>
                </a:solidFill>
              </a:rPr>
              <a:t>Type C shows lower contribution compared to A &amp; B.</a:t>
            </a:r>
            <a:endParaRPr lang="en-PK" sz="1600" dirty="0">
              <a:solidFill>
                <a:schemeClr val="bg1"/>
              </a:solidFill>
            </a:endParaRPr>
          </a:p>
          <a:p>
            <a:r>
              <a:rPr lang="en-PK" sz="1600" b="1" dirty="0">
                <a:solidFill>
                  <a:schemeClr val="bg1"/>
                </a:solidFill>
              </a:rPr>
              <a:t>Type B achieves the highest Avg. Weekly Sales per Sq. Ft.</a:t>
            </a:r>
            <a:endParaRPr lang="en-PK" sz="1600" dirty="0">
              <a:solidFill>
                <a:schemeClr val="bg1"/>
              </a:solidFill>
            </a:endParaRPr>
          </a:p>
          <a:p>
            <a:r>
              <a:rPr lang="en-PK" sz="1600" b="1" dirty="0">
                <a:solidFill>
                  <a:schemeClr val="bg1"/>
                </a:solidFill>
              </a:rPr>
              <a:t>Key focus: Leverage strengths of A &amp; B stores for growth.</a:t>
            </a:r>
            <a:endParaRPr lang="en-PK" sz="1600" dirty="0">
              <a:solidFill>
                <a:schemeClr val="bg1"/>
              </a:solidFill>
            </a:endParaRPr>
          </a:p>
          <a:p>
            <a:pPr marL="0" indent="0">
              <a:buNone/>
            </a:pPr>
            <a:endParaRPr lang="en-PK" sz="1600" dirty="0">
              <a:solidFill>
                <a:schemeClr val="bg1"/>
              </a:solidFill>
            </a:endParaRPr>
          </a:p>
        </p:txBody>
      </p:sp>
      <p:grpSp>
        <p:nvGrpSpPr>
          <p:cNvPr id="45" name="Group 44">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46" name="Group 45">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50" name="Freeform: Shape 49">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47" name="Group 46">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48" name="Freeform: Shape 47">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aphicFrame>
        <p:nvGraphicFramePr>
          <p:cNvPr id="6" name="Chart 5">
            <a:extLst>
              <a:ext uri="{FF2B5EF4-FFF2-40B4-BE49-F238E27FC236}">
                <a16:creationId xmlns:a16="http://schemas.microsoft.com/office/drawing/2014/main" id="{467FAB02-DE74-5008-8035-B782B6327693}"/>
              </a:ext>
            </a:extLst>
          </p:cNvPr>
          <p:cNvGraphicFramePr>
            <a:graphicFrameLocks/>
          </p:cNvGraphicFramePr>
          <p:nvPr>
            <p:extLst>
              <p:ext uri="{D42A27DB-BD31-4B8C-83A1-F6EECF244321}">
                <p14:modId xmlns:p14="http://schemas.microsoft.com/office/powerpoint/2010/main" val="3864207917"/>
              </p:ext>
            </p:extLst>
          </p:nvPr>
        </p:nvGraphicFramePr>
        <p:xfrm>
          <a:off x="6343194" y="1069456"/>
          <a:ext cx="4757963" cy="31542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41395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41D56F-EA97-72C1-DDF4-CD274F3F23E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6DD2C17-3CF1-5B19-05B3-329F3A0415A4}"/>
              </a:ext>
            </a:extLst>
          </p:cNvPr>
          <p:cNvSpPr>
            <a:spLocks noGrp="1"/>
          </p:cNvSpPr>
          <p:nvPr>
            <p:ph type="title"/>
          </p:nvPr>
        </p:nvSpPr>
        <p:spPr>
          <a:xfrm>
            <a:off x="838200" y="448721"/>
            <a:ext cx="4707671" cy="1225650"/>
          </a:xfrm>
        </p:spPr>
        <p:txBody>
          <a:bodyPr anchor="b">
            <a:normAutofit/>
          </a:bodyPr>
          <a:lstStyle/>
          <a:p>
            <a:r>
              <a:rPr lang="en-US" sz="3200" b="1">
                <a:solidFill>
                  <a:schemeClr val="bg1"/>
                </a:solidFill>
              </a:rPr>
              <a:t>4. Impact of External Factors on Weekly Sales:</a:t>
            </a:r>
            <a:endParaRPr lang="en-PK" sz="3200" b="1">
              <a:solidFill>
                <a:schemeClr val="bg1"/>
              </a:solidFill>
            </a:endParaRPr>
          </a:p>
        </p:txBody>
      </p:sp>
      <p:cxnSp>
        <p:nvCxnSpPr>
          <p:cNvPr id="20" name="Straight Connector 19">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EB11537-0B55-B56A-1592-26BCC2307877}"/>
              </a:ext>
            </a:extLst>
          </p:cNvPr>
          <p:cNvSpPr>
            <a:spLocks noGrp="1"/>
          </p:cNvSpPr>
          <p:nvPr>
            <p:ph idx="1"/>
          </p:nvPr>
        </p:nvSpPr>
        <p:spPr>
          <a:xfrm>
            <a:off x="897769" y="1909192"/>
            <a:ext cx="4586513" cy="3647710"/>
          </a:xfrm>
        </p:spPr>
        <p:txBody>
          <a:bodyPr>
            <a:normAutofit/>
          </a:bodyPr>
          <a:lstStyle/>
          <a:p>
            <a:pPr lvl="0"/>
            <a:r>
              <a:rPr lang="en-PK" sz="2000" b="1" dirty="0">
                <a:solidFill>
                  <a:schemeClr val="bg1"/>
                </a:solidFill>
                <a:latin typeface="Calibri" panose="020F0502020204030204" pitchFamily="34" charset="0"/>
                <a:ea typeface="Calibri" panose="020F0502020204030204" pitchFamily="34" charset="0"/>
                <a:cs typeface="Calibri" panose="020F0502020204030204" pitchFamily="34" charset="0"/>
              </a:rPr>
              <a:t>Unemployment vs Sales: No clear correlation (</a:t>
            </a:r>
            <a:r>
              <a:rPr lang="en-PK" sz="2000" b="1" i="1" dirty="0">
                <a:solidFill>
                  <a:schemeClr val="bg1"/>
                </a:solidFill>
                <a:latin typeface="Calibri" panose="020F0502020204030204" pitchFamily="34" charset="0"/>
                <a:ea typeface="Calibri" panose="020F0502020204030204" pitchFamily="34" charset="0"/>
                <a:cs typeface="Calibri" panose="020F0502020204030204" pitchFamily="34" charset="0"/>
              </a:rPr>
              <a:t>Corr = -0.0469</a:t>
            </a:r>
            <a:r>
              <a:rPr lang="en-PK" sz="2000" b="1" dirty="0">
                <a:solidFill>
                  <a:schemeClr val="bg1"/>
                </a:solidFill>
                <a:latin typeface="Calibri" panose="020F0502020204030204" pitchFamily="34" charset="0"/>
                <a:ea typeface="Calibri" panose="020F0502020204030204" pitchFamily="34" charset="0"/>
                <a:cs typeface="Calibri" panose="020F0502020204030204" pitchFamily="34" charset="0"/>
              </a:rPr>
              <a:t>). Sales move inconsistently with unemployment.</a:t>
            </a: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 NO impact on Sales.</a:t>
            </a:r>
          </a:p>
          <a:p>
            <a:pPr lvl="0"/>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Temperature vs Sales : Clearly No impact on Sales  </a:t>
            </a:r>
          </a:p>
          <a:p>
            <a:pPr marL="0" lvl="0" indent="0">
              <a:buNone/>
            </a:pPr>
            <a:r>
              <a:rPr lang="en-US" sz="2000" b="1" i="1" dirty="0">
                <a:solidFill>
                  <a:schemeClr val="bg1"/>
                </a:solidFill>
                <a:latin typeface="Calibri" panose="020F0502020204030204" pitchFamily="34" charset="0"/>
                <a:ea typeface="Calibri" panose="020F0502020204030204" pitchFamily="34" charset="0"/>
                <a:cs typeface="Calibri" panose="020F0502020204030204" pitchFamily="34" charset="0"/>
              </a:rPr>
              <a:t>     (Corr= -0.028).</a:t>
            </a:r>
            <a:endParaRPr lang="en-PK" sz="2000" i="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a:r>
              <a:rPr lang="en-PK" sz="2000" b="1" dirty="0">
                <a:solidFill>
                  <a:schemeClr val="bg1"/>
                </a:solidFill>
                <a:latin typeface="Calibri" panose="020F0502020204030204" pitchFamily="34" charset="0"/>
                <a:ea typeface="Calibri" panose="020F0502020204030204" pitchFamily="34" charset="0"/>
                <a:cs typeface="Calibri" panose="020F0502020204030204" pitchFamily="34" charset="0"/>
              </a:rPr>
              <a:t>Fuel Price vs Sales: No significant correlation (</a:t>
            </a:r>
            <a:r>
              <a:rPr lang="en-PK" sz="2000" b="1" i="1" dirty="0">
                <a:solidFill>
                  <a:schemeClr val="bg1"/>
                </a:solidFill>
                <a:latin typeface="Calibri" panose="020F0502020204030204" pitchFamily="34" charset="0"/>
                <a:ea typeface="Calibri" panose="020F0502020204030204" pitchFamily="34" charset="0"/>
                <a:cs typeface="Calibri" panose="020F0502020204030204" pitchFamily="34" charset="0"/>
              </a:rPr>
              <a:t>Corr = 0.0070</a:t>
            </a:r>
            <a:r>
              <a:rPr lang="en-PK" sz="2000" b="1" dirty="0">
                <a:solidFill>
                  <a:schemeClr val="bg1"/>
                </a:solidFill>
                <a:latin typeface="Calibri" panose="020F0502020204030204" pitchFamily="34" charset="0"/>
                <a:ea typeface="Calibri" panose="020F0502020204030204" pitchFamily="34" charset="0"/>
                <a:cs typeface="Calibri" panose="020F0502020204030204" pitchFamily="34" charset="0"/>
              </a:rPr>
              <a:t>). Sales are unaffected by fuel price changes</a:t>
            </a:r>
            <a:endPar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2" name="Straight Connector 21">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Digital numbers art">
            <a:extLst>
              <a:ext uri="{FF2B5EF4-FFF2-40B4-BE49-F238E27FC236}">
                <a16:creationId xmlns:a16="http://schemas.microsoft.com/office/drawing/2014/main" id="{30CE35BA-9464-7A50-E254-FB7512A3F61C}"/>
              </a:ext>
            </a:extLst>
          </p:cNvPr>
          <p:cNvPicPr>
            <a:picLocks noChangeAspect="1"/>
          </p:cNvPicPr>
          <p:nvPr/>
        </p:nvPicPr>
        <p:blipFill>
          <a:blip r:embed="rId2"/>
          <a:srcRect l="10438" r="34408" b="-1"/>
          <a:stretch>
            <a:fillRect/>
          </a:stretch>
        </p:blipFill>
        <p:spPr>
          <a:xfrm>
            <a:off x="6525453" y="10"/>
            <a:ext cx="5666547" cy="6857990"/>
          </a:xfrm>
          <a:prstGeom prst="rect">
            <a:avLst/>
          </a:prstGeom>
        </p:spPr>
      </p:pic>
    </p:spTree>
    <p:extLst>
      <p:ext uri="{BB962C8B-B14F-4D97-AF65-F5344CB8AC3E}">
        <p14:creationId xmlns:p14="http://schemas.microsoft.com/office/powerpoint/2010/main" val="4169391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3" name="Rectangle 39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5" name="Group 394">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396" name="Rectangle 395">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B6AF60-35AB-8765-01BD-25D464D3C18E}"/>
              </a:ext>
            </a:extLst>
          </p:cNvPr>
          <p:cNvSpPr>
            <a:spLocks noGrp="1"/>
          </p:cNvSpPr>
          <p:nvPr>
            <p:ph type="title"/>
          </p:nvPr>
        </p:nvSpPr>
        <p:spPr>
          <a:xfrm>
            <a:off x="740584" y="859808"/>
            <a:ext cx="3543197" cy="2878986"/>
          </a:xfrm>
        </p:spPr>
        <p:txBody>
          <a:bodyPr>
            <a:normAutofit/>
          </a:bodyPr>
          <a:lstStyle/>
          <a:p>
            <a:pPr algn="ctr"/>
            <a:r>
              <a:rPr lang="en-US" sz="3100" b="1">
                <a:solidFill>
                  <a:schemeClr val="bg1"/>
                </a:solidFill>
              </a:rPr>
              <a:t>Strategic Recommendations:</a:t>
            </a:r>
            <a:endParaRPr lang="en-PK" sz="3100" b="1">
              <a:solidFill>
                <a:schemeClr val="bg1"/>
              </a:solidFill>
            </a:endParaRPr>
          </a:p>
        </p:txBody>
      </p:sp>
      <p:grpSp>
        <p:nvGrpSpPr>
          <p:cNvPr id="401"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402" name="Freeform: Shape 401">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05" name="Freeform: Shape 404">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416"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417" name="Freeform: Shape 416">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20" name="Freeform: Shape 419">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4DF7F4A-FF7D-AB00-F095-41352994355D}"/>
              </a:ext>
            </a:extLst>
          </p:cNvPr>
          <p:cNvSpPr>
            <a:spLocks noGrp="1"/>
          </p:cNvSpPr>
          <p:nvPr>
            <p:ph idx="1"/>
          </p:nvPr>
        </p:nvSpPr>
        <p:spPr>
          <a:xfrm>
            <a:off x="6477270" y="685805"/>
            <a:ext cx="4974771" cy="5534019"/>
          </a:xfrm>
        </p:spPr>
        <p:txBody>
          <a:bodyPr>
            <a:normAutofit/>
          </a:bodyPr>
          <a:lstStyle/>
          <a:p>
            <a:pPr algn="ctr"/>
            <a:r>
              <a:rPr lang="en-PK" sz="2400" b="1" dirty="0">
                <a:solidFill>
                  <a:schemeClr val="bg1"/>
                </a:solidFill>
                <a:latin typeface="Calibri" panose="020F0502020204030204" pitchFamily="34" charset="0"/>
                <a:ea typeface="Calibri" panose="020F0502020204030204" pitchFamily="34" charset="0"/>
                <a:cs typeface="Calibri" panose="020F0502020204030204" pitchFamily="34" charset="0"/>
              </a:rPr>
              <a:t>Overall Store Performance:</a:t>
            </a:r>
            <a:endPar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r>
              <a:rPr lang="en-PK"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rPr>
              <a:t>Strong overall, but improvements needed in weaker stores and departments.</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CEO Question:</a:t>
            </a:r>
            <a:br>
              <a:rPr lang="en-US" sz="2000" b="1" dirty="0">
                <a:solidFill>
                  <a:schemeClr val="bg1"/>
                </a:solidFill>
              </a:rPr>
            </a:b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“How can Walmart improve sales performance in the upcoming year?”</a:t>
            </a:r>
            <a:endPar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r>
              <a:rPr lang="en-PK" sz="2400" b="1" dirty="0">
                <a:solidFill>
                  <a:schemeClr val="bg1"/>
                </a:solidFill>
                <a:latin typeface="Calibri" panose="020F0502020204030204" pitchFamily="34" charset="0"/>
                <a:ea typeface="Calibri" panose="020F0502020204030204" pitchFamily="34" charset="0"/>
                <a:cs typeface="Calibri" panose="020F0502020204030204" pitchFamily="34" charset="0"/>
              </a:rPr>
              <a:t>Recommendations:</a:t>
            </a:r>
          </a:p>
          <a:p>
            <a:pPr lvl="0" algn="ctr"/>
            <a:r>
              <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rPr>
              <a:t>Boost Holiday Sales – Strengthen promotions during holidays, especially in low-performing stores (33, 44, 36, 38, 30).</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algn="ctr"/>
            <a:r>
              <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rPr>
              <a:t>Optimize Inventory – Align stock with weather patterns to improve availability of seasonal products.</a:t>
            </a:r>
          </a:p>
          <a:p>
            <a:pPr lvl="0" algn="ctr"/>
            <a:r>
              <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rPr>
              <a:t>Focus on Weak Areas – Monitor and target underperforming store</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type</a:t>
            </a:r>
            <a:r>
              <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C</a:t>
            </a:r>
            <a:r>
              <a:rPr lang="en-PK" sz="2000" dirty="0">
                <a:solidFill>
                  <a:schemeClr val="bg1"/>
                </a:solidFill>
                <a:latin typeface="Calibri" panose="020F0502020204030204" pitchFamily="34" charset="0"/>
                <a:ea typeface="Calibri" panose="020F0502020204030204" pitchFamily="34" charset="0"/>
                <a:cs typeface="Calibri" panose="020F0502020204030204" pitchFamily="34" charset="0"/>
              </a:rPr>
              <a:t>) and departments (9, 1, 10, 3, 6).</a:t>
            </a:r>
          </a:p>
        </p:txBody>
      </p:sp>
      <p:graphicFrame>
        <p:nvGraphicFramePr>
          <p:cNvPr id="4" name="Chart 3">
            <a:extLst>
              <a:ext uri="{FF2B5EF4-FFF2-40B4-BE49-F238E27FC236}">
                <a16:creationId xmlns:a16="http://schemas.microsoft.com/office/drawing/2014/main" id="{2E9C7E79-C023-2884-70E2-42A3DF795BFA}"/>
              </a:ext>
            </a:extLst>
          </p:cNvPr>
          <p:cNvGraphicFramePr>
            <a:graphicFrameLocks/>
          </p:cNvGraphicFramePr>
          <p:nvPr>
            <p:extLst>
              <p:ext uri="{D42A27DB-BD31-4B8C-83A1-F6EECF244321}">
                <p14:modId xmlns:p14="http://schemas.microsoft.com/office/powerpoint/2010/main" val="2794819865"/>
              </p:ext>
            </p:extLst>
          </p:nvPr>
        </p:nvGraphicFramePr>
        <p:xfrm>
          <a:off x="2511713" y="3104705"/>
          <a:ext cx="3634674" cy="3217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8768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036F56C6-1EF1-5662-4628-581422CC9835}"/>
              </a:ext>
            </a:extLst>
          </p:cNvPr>
          <p:cNvSpPr>
            <a:spLocks noGrp="1"/>
          </p:cNvSpPr>
          <p:nvPr>
            <p:ph type="title"/>
          </p:nvPr>
        </p:nvSpPr>
        <p:spPr>
          <a:xfrm>
            <a:off x="838200" y="448721"/>
            <a:ext cx="4707671" cy="1225650"/>
          </a:xfrm>
        </p:spPr>
        <p:txBody>
          <a:bodyPr anchor="b">
            <a:normAutofit/>
          </a:bodyPr>
          <a:lstStyle/>
          <a:p>
            <a:r>
              <a:rPr lang="en-US" sz="3800" b="1">
                <a:solidFill>
                  <a:schemeClr val="bg1"/>
                </a:solidFill>
              </a:rPr>
              <a:t>Next Steps &amp; Implementation:</a:t>
            </a:r>
            <a:endParaRPr lang="en-PK" sz="3800" b="1">
              <a:solidFill>
                <a:schemeClr val="bg1"/>
              </a:solidFill>
            </a:endParaRPr>
          </a:p>
        </p:txBody>
      </p:sp>
      <p:cxnSp>
        <p:nvCxnSpPr>
          <p:cNvPr id="25" name="Straight Connector 24">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5352857-C5B4-68D5-BBD6-B4757EAD1771}"/>
              </a:ext>
            </a:extLst>
          </p:cNvPr>
          <p:cNvSpPr>
            <a:spLocks noGrp="1"/>
          </p:cNvSpPr>
          <p:nvPr>
            <p:ph idx="1"/>
          </p:nvPr>
        </p:nvSpPr>
        <p:spPr>
          <a:xfrm>
            <a:off x="897769" y="1909192"/>
            <a:ext cx="4586513" cy="3647710"/>
          </a:xfrm>
        </p:spPr>
        <p:txBody>
          <a:bodyPr>
            <a:normAutofit/>
          </a:bodyPr>
          <a:lstStyle/>
          <a:p>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The first immediate step should be </a:t>
            </a: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launching promotional campaigns during holidays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to maximize revenue.</a:t>
            </a:r>
          </a:p>
          <a:p>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Once promotions are in place, the next step is to </a:t>
            </a: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manage inventory based on expected holiday sales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Since it is highly likely that sales will increase after promotions begin, inventory must be planned in advance to meet the demand.</a:t>
            </a:r>
          </a:p>
        </p:txBody>
      </p:sp>
      <p:cxnSp>
        <p:nvCxnSpPr>
          <p:cNvPr id="27" name="Straight Connector 26">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Tying a bow in an arrangment of presents">
            <a:extLst>
              <a:ext uri="{FF2B5EF4-FFF2-40B4-BE49-F238E27FC236}">
                <a16:creationId xmlns:a16="http://schemas.microsoft.com/office/drawing/2014/main" id="{29CE7F0E-A404-904B-CF11-1B7C859F490F}"/>
              </a:ext>
            </a:extLst>
          </p:cNvPr>
          <p:cNvPicPr>
            <a:picLocks noChangeAspect="1"/>
          </p:cNvPicPr>
          <p:nvPr/>
        </p:nvPicPr>
        <p:blipFill>
          <a:blip r:embed="rId2"/>
          <a:srcRect l="22879" r="21967" b="-1"/>
          <a:stretch>
            <a:fillRect/>
          </a:stretch>
        </p:blipFill>
        <p:spPr>
          <a:xfrm>
            <a:off x="6525453" y="10"/>
            <a:ext cx="5666547" cy="6857990"/>
          </a:xfrm>
          <a:prstGeom prst="rect">
            <a:avLst/>
          </a:prstGeom>
        </p:spPr>
      </p:pic>
    </p:spTree>
    <p:extLst>
      <p:ext uri="{BB962C8B-B14F-4D97-AF65-F5344CB8AC3E}">
        <p14:creationId xmlns:p14="http://schemas.microsoft.com/office/powerpoint/2010/main" val="36676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Colorful envelopes">
            <a:extLst>
              <a:ext uri="{FF2B5EF4-FFF2-40B4-BE49-F238E27FC236}">
                <a16:creationId xmlns:a16="http://schemas.microsoft.com/office/drawing/2014/main" id="{A35B8923-43D2-095A-3488-69F5880136EF}"/>
              </a:ext>
            </a:extLst>
          </p:cNvPr>
          <p:cNvPicPr>
            <a:picLocks noChangeAspect="1"/>
          </p:cNvPicPr>
          <p:nvPr/>
        </p:nvPicPr>
        <p:blipFill>
          <a:blip r:embed="rId2">
            <a:alphaModFix amt="40000"/>
          </a:blip>
          <a:srcRect t="11141" b="4590"/>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6DE70655-6BBF-5686-578E-771558C2E099}"/>
              </a:ext>
            </a:extLst>
          </p:cNvPr>
          <p:cNvSpPr>
            <a:spLocks noGrp="1"/>
          </p:cNvSpPr>
          <p:nvPr>
            <p:ph type="title"/>
          </p:nvPr>
        </p:nvSpPr>
        <p:spPr>
          <a:xfrm>
            <a:off x="841249" y="941832"/>
            <a:ext cx="10506456" cy="2057400"/>
          </a:xfrm>
        </p:spPr>
        <p:txBody>
          <a:bodyPr vert="horz" lIns="91440" tIns="45720" rIns="91440" bIns="45720" rtlCol="0" anchor="b">
            <a:normAutofit/>
          </a:bodyPr>
          <a:lstStyle/>
          <a:p>
            <a:r>
              <a:rPr lang="en-US" sz="5000" dirty="0">
                <a:solidFill>
                  <a:schemeClr val="bg1"/>
                </a:solidFill>
              </a:rPr>
              <a:t>Thank you !</a:t>
            </a:r>
            <a:br>
              <a:rPr lang="en-US" sz="5000" dirty="0">
                <a:solidFill>
                  <a:schemeClr val="bg1"/>
                </a:solidFill>
              </a:rPr>
            </a:br>
            <a:r>
              <a:rPr lang="en-US" sz="5000" dirty="0">
                <a:solidFill>
                  <a:schemeClr val="bg1"/>
                </a:solidFill>
              </a:rPr>
              <a:t>I welcome your feedback and questions.</a:t>
            </a:r>
          </a:p>
        </p:txBody>
      </p:sp>
      <p:sp>
        <p:nvSpPr>
          <p:cNvPr id="58" name="Rectangle 5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9" name="Rectangle 5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417735F-094D-4985-CA89-1A77EA1DD0E4}"/>
              </a:ext>
            </a:extLst>
          </p:cNvPr>
          <p:cNvSpPr txBox="1"/>
          <p:nvPr/>
        </p:nvSpPr>
        <p:spPr>
          <a:xfrm>
            <a:off x="841248" y="3502152"/>
            <a:ext cx="10506456" cy="267004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dirty="0">
                <a:solidFill>
                  <a:schemeClr val="bg1"/>
                </a:solidFill>
              </a:rPr>
              <a:t>LinkedIn: </a:t>
            </a:r>
            <a:r>
              <a:rPr lang="en-US" sz="2000" dirty="0">
                <a:solidFill>
                  <a:schemeClr val="accent1">
                    <a:lumMod val="60000"/>
                    <a:lumOff val="40000"/>
                  </a:schemeClr>
                </a:solidFill>
                <a:hlinkClick r:id="rId3">
                  <a:extLst>
                    <a:ext uri="{A12FA001-AC4F-418D-AE19-62706E023703}">
                      <ahyp:hlinkClr xmlns:ahyp="http://schemas.microsoft.com/office/drawing/2018/hyperlinkcolor" val="tx"/>
                    </a:ext>
                  </a:extLst>
                </a:hlinkClick>
              </a:rPr>
              <a:t>https://www.linkedin.com/in/husnainzahoor/</a:t>
            </a:r>
            <a:endParaRPr lang="en-US" sz="2000" dirty="0">
              <a:solidFill>
                <a:schemeClr val="accent1">
                  <a:lumMod val="60000"/>
                  <a:lumOff val="40000"/>
                </a:schemeClr>
              </a:solidFill>
            </a:endParaRPr>
          </a:p>
          <a:p>
            <a:pPr indent="-228600">
              <a:lnSpc>
                <a:spcPct val="90000"/>
              </a:lnSpc>
              <a:spcAft>
                <a:spcPts val="600"/>
              </a:spcAft>
              <a:buFont typeface="Arial" panose="020B0604020202020204" pitchFamily="34" charset="0"/>
              <a:buChar char="•"/>
            </a:pPr>
            <a:endParaRPr lang="en-US" sz="2000" dirty="0">
              <a:solidFill>
                <a:schemeClr val="accent1">
                  <a:lumMod val="60000"/>
                  <a:lumOff val="40000"/>
                </a:schemeClr>
              </a:solidFill>
            </a:endParaRPr>
          </a:p>
          <a:p>
            <a:pPr indent="-228600">
              <a:lnSpc>
                <a:spcPct val="90000"/>
              </a:lnSpc>
              <a:spcAft>
                <a:spcPts val="600"/>
              </a:spcAft>
              <a:buFont typeface="Arial" panose="020B0604020202020204" pitchFamily="34" charset="0"/>
              <a:buChar char="•"/>
            </a:pPr>
            <a:r>
              <a:rPr lang="en-US" sz="2000" b="1" dirty="0">
                <a:solidFill>
                  <a:schemeClr val="bg1"/>
                </a:solidFill>
              </a:rPr>
              <a:t>Email: husnainzahoor313@gmail.com</a:t>
            </a:r>
          </a:p>
        </p:txBody>
      </p:sp>
    </p:spTree>
    <p:extLst>
      <p:ext uri="{BB962C8B-B14F-4D97-AF65-F5344CB8AC3E}">
        <p14:creationId xmlns:p14="http://schemas.microsoft.com/office/powerpoint/2010/main" val="236307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2546</TotalTime>
  <Words>685</Words>
  <Application>Microsoft Office PowerPoint</Application>
  <PresentationFormat>Widescreen</PresentationFormat>
  <Paragraphs>61</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Segoe UI Semibold</vt:lpstr>
      <vt:lpstr>Office Theme</vt:lpstr>
      <vt:lpstr>Walmart Sales Performance Analysis.  Improvement of Walmart sales performance in the Upcoming Year for maximized revenue.</vt:lpstr>
      <vt:lpstr>CEO Question: “How can Walmart improve sales performance in the upcoming year?” </vt:lpstr>
      <vt:lpstr>Key Questions for Stakeholder Discussion:  What is the impact of holidays on sales?  Is there a relationship between stores and the highest sales performance?  Does store type matter in terms of generating the highest sales?  What is the impact of external factors such as unemployment and fuel prices on sales? Do sales fluctuate because of these factors?</vt:lpstr>
      <vt:lpstr>1. Impact of holidays on Weekly Sales:</vt:lpstr>
      <vt:lpstr>Top &amp; Bottom Stores W.R.T Sales Performance:</vt:lpstr>
      <vt:lpstr>1. Impact of holidays on Weekly Sales:</vt:lpstr>
      <vt:lpstr>2. Impact of Stores, Store Size &amp; Dept on Weekly Sales:</vt:lpstr>
      <vt:lpstr>3. Impact of Store Type on Weekly Sales:</vt:lpstr>
      <vt:lpstr>4. Impact of External Factors on Weekly Sales:</vt:lpstr>
      <vt:lpstr>Strategic Recommendations:</vt:lpstr>
      <vt:lpstr>Next Steps &amp; Implementation:</vt:lpstr>
      <vt:lpstr>Thank you ! I welcome your feedback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hasnain zahoor</dc:creator>
  <cp:lastModifiedBy>hasnain zahoor</cp:lastModifiedBy>
  <cp:revision>139</cp:revision>
  <dcterms:created xsi:type="dcterms:W3CDTF">2025-09-23T13:22:18Z</dcterms:created>
  <dcterms:modified xsi:type="dcterms:W3CDTF">2025-11-10T17:06:16Z</dcterms:modified>
</cp:coreProperties>
</file>